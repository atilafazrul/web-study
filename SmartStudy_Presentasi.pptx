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Bapak/Ibu dosen dan rekan-rekan sekalian. Hari ini kami mempresentasikan SmartStudy: AI Academic Study Planner &amp; Hub. Platform web cerdas yang dirancang untuk membantu mahasiswa mengatur prioritas belajar, memecah tugas secara otomatis, dan mengonversi slide perkuliahan menjadi instrumen belajar aktif.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masalah utama yang dihadapi mahasiswa: Pertama, beban kognitif tinggi akibat deadline menumpuk. Kedua, slide perkuliahan dibaca secara pasif yang tidak efektif. Ketiga, tidak adanya panduan waktu dan ketiadaan tutor akademik 24 jam.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SmartStudy berdiri di atas 4 pilar solusi: Pipeline AI Berkelanjutan untuk penjadwalan, PPT to Study AI untuk pengolahan materi aktif, AI Tutor akademik 24/7, dan integrasi gamifikasi dengan ambient focus audio.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Arsitektur teknologi kami menggabungkan kecerdasan Google Gemini API dengan modul ekstraksi Python, dijalankan di atas framework Laravel 12 yang stabil dan antarmuka reaktif Tailwind CSS serta Alpine.js.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AI Pipeline bekerja dalam tiga tahapan berurutan: Pertama mendeteksi kategori topik. Kedua menghitung persentase urgensi prioritas tugas. Ketiga memecah subtask dan langsung memasukkannya ke kalender belajar mingguan.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adalah tampilan nyata Dashboard SmartStudy. Mahasiswa langsung disajikan metrik penting, daftar tugas aktif, grafik insights AI, serta tombol Pomodoro dan maskot motivasi yang merayakan pencapaian belajar.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Halaman My Tasks menyediakan filter multi-kategori dan ringkasan visual proporsi studi. Sementara Study Plan menyusun tugas ke dalam matriks slot jam belajar harian yang realistis dan terstruktur.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Fitur unggulan kami: PPT to Study AI. Slide kuliah diekstrak menjadi 3 mode terukur: Kuis Interaktif dengan evaluasi otomatis, Flashcard 3D untuk active recall, dan Rangkuman Catatan berupa cheat sheet ujian yang siap disalin.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Tutor kami selalu dapat diakses di pojok kanan bawah. Chatbot ini tidak hanya memberikan jawaban umum seperti ChatGPT, tetapi juga membedah koding baris demi baris dan mengaitkannya dengan tugas aktif mahasiswa.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kesimpulan, SmartStudy hadir sebagai solusi holistik untuk efisiensi belajar mahasiswa. Proyek ini siap dikembangkan lebih lanjut dengan sinkronisasi Google Calendar dan aplikasi mobile. Terima kasih atas perhatiannya, kami menyambut pertanyaan dari Bapak/Ibu dosen penguji.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914400"/>
            <a:ext cx="9997135" cy="50292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28800" y="1463040"/>
            <a:ext cx="3840480" cy="411480"/>
          </a:xfrm>
          <a:prstGeom prst="roundRect">
            <a:avLst/>
          </a:prstGeom>
          <a:solidFill>
            <a:srgbClr val="FDF2F8"/>
          </a:solidFill>
          <a:ln>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C4899"/>
                </a:solidFill>
              </a:defRPr>
            </a:pPr>
            <a:r>
              <a:t>✦ AI ACADEMIC STUDY PLANNER &amp; HUB</a:t>
            </a:r>
          </a:p>
        </p:txBody>
      </p:sp>
      <p:sp>
        <p:nvSpPr>
          <p:cNvPr id="5" name="TextBox 4"/>
          <p:cNvSpPr txBox="1"/>
          <p:nvPr/>
        </p:nvSpPr>
        <p:spPr>
          <a:xfrm>
            <a:off x="1828800" y="2011680"/>
            <a:ext cx="8503920" cy="1371600"/>
          </a:xfrm>
          <a:prstGeom prst="rect">
            <a:avLst/>
          </a:prstGeom>
          <a:noFill/>
        </p:spPr>
        <p:txBody>
          <a:bodyPr wrap="none">
            <a:spAutoFit/>
          </a:bodyPr>
          <a:lstStyle/>
          <a:p>
            <a:pPr>
              <a:defRPr sz="4800" b="1">
                <a:solidFill>
                  <a:srgbClr val="581C87"/>
                </a:solidFill>
              </a:defRPr>
            </a:pPr>
            <a:r>
              <a:t>SmartStudy</a:t>
            </a:r>
          </a:p>
          <a:p>
            <a:pPr>
              <a:defRPr sz="2200" b="1">
                <a:solidFill>
                  <a:srgbClr val="9333EA"/>
                </a:solidFill>
              </a:defRPr>
            </a:pPr>
            <a:r>
              <a:t>Plan Smarter. Study Better. 🎓</a:t>
            </a:r>
          </a:p>
        </p:txBody>
      </p:sp>
      <p:sp>
        <p:nvSpPr>
          <p:cNvPr id="6" name="TextBox 5"/>
          <p:cNvSpPr txBox="1"/>
          <p:nvPr/>
        </p:nvSpPr>
        <p:spPr>
          <a:xfrm>
            <a:off x="1828800" y="3383280"/>
            <a:ext cx="8503920" cy="1097280"/>
          </a:xfrm>
          <a:prstGeom prst="rect">
            <a:avLst/>
          </a:prstGeom>
          <a:noFill/>
        </p:spPr>
        <p:txBody>
          <a:bodyPr wrap="none">
            <a:spAutoFit/>
          </a:bodyPr>
          <a:lstStyle/>
          <a:p>
            <a:pPr>
              <a:defRPr sz="1400">
                <a:solidFill>
                  <a:srgbClr val="64748B"/>
                </a:solidFill>
              </a:defRPr>
            </a:pPr>
            <a:r>
              <a:t>Platform Web Ekosistem Belajar Adaptif Berbasis Continuous AI Pipeline</a:t>
            </a:r>
            <a:br/>
            <a:r>
              <a:t>dan Konversi Otomatis Slide Kuliah (.pptx/.pdf) Menjadi Instrumen Belajar Interaktif.</a:t>
            </a:r>
          </a:p>
        </p:txBody>
      </p:sp>
      <p:sp>
        <p:nvSpPr>
          <p:cNvPr id="7" name="TextBox 6"/>
          <p:cNvSpPr txBox="1"/>
          <p:nvPr/>
        </p:nvSpPr>
        <p:spPr>
          <a:xfrm>
            <a:off x="1828800" y="4663440"/>
            <a:ext cx="8503920" cy="731520"/>
          </a:xfrm>
          <a:prstGeom prst="rect">
            <a:avLst/>
          </a:prstGeom>
          <a:noFill/>
        </p:spPr>
        <p:txBody>
          <a:bodyPr wrap="none">
            <a:spAutoFit/>
          </a:bodyPr>
          <a:lstStyle/>
          <a:p>
            <a:pPr>
              <a:defRPr sz="1200" b="1">
                <a:solidFill>
                  <a:srgbClr val="0F172A"/>
                </a:solidFill>
              </a:defRPr>
            </a:pPr>
            <a:r>
              <a:t>Pengembang: Atila Fazrul  •  Proyek: Software Engineering &amp; AI  •  Tahun: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47472"/>
          </a:xfrm>
          <a:prstGeom prst="roundRect">
            <a:avLst/>
          </a:prstGeom>
          <a:solidFill>
            <a:srgbClr val="F3E8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MASALAH &amp; URGENSI</a:t>
            </a:r>
          </a:p>
        </p:txBody>
      </p:sp>
      <p:sp>
        <p:nvSpPr>
          <p:cNvPr id="4" name="TextBox 3"/>
          <p:cNvSpPr txBox="1"/>
          <p:nvPr/>
        </p:nvSpPr>
        <p:spPr>
          <a:xfrm>
            <a:off x="731520" y="868680"/>
            <a:ext cx="10698480" cy="731520"/>
          </a:xfrm>
          <a:prstGeom prst="rect">
            <a:avLst/>
          </a:prstGeom>
          <a:noFill/>
        </p:spPr>
        <p:txBody>
          <a:bodyPr wrap="square">
            <a:spAutoFit/>
          </a:bodyPr>
          <a:lstStyle/>
          <a:p>
            <a:pPr>
              <a:defRPr sz="2400" b="1">
                <a:solidFill>
                  <a:srgbClr val="0F172A"/>
                </a:solidFill>
              </a:defRPr>
            </a:pPr>
            <a:r>
              <a:t>Latar Belakang: Tantangan Belajar Mahasiswa Modern</a:t>
            </a:r>
          </a:p>
        </p:txBody>
      </p:sp>
      <p:sp>
        <p:nvSpPr>
          <p:cNvPr id="5" name="Rounded Rectangle 4"/>
          <p:cNvSpPr/>
          <p:nvPr/>
        </p:nvSpPr>
        <p:spPr>
          <a:xfrm>
            <a:off x="731520" y="1645920"/>
            <a:ext cx="3328416" cy="4480560"/>
          </a:xfrm>
          <a:prstGeom prst="roundRect">
            <a:avLst/>
          </a:prstGeom>
          <a:solidFill>
            <a:srgbClr val="FFFFFF"/>
          </a:solidFill>
          <a:ln w="1905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2962656" cy="548640"/>
          </a:xfrm>
          <a:prstGeom prst="roundRect">
            <a:avLst/>
          </a:prstGeom>
          <a:solidFill>
            <a:srgbClr val="FDF2F8"/>
          </a:solidFill>
          <a:ln>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C4899"/>
                </a:solidFill>
              </a:defRPr>
            </a:pPr>
            <a:r>
              <a:t>1. Cognitive Overload &amp; Deadline</a:t>
            </a:r>
          </a:p>
        </p:txBody>
      </p:sp>
      <p:sp>
        <p:nvSpPr>
          <p:cNvPr id="7" name="TextBox 6"/>
          <p:cNvSpPr txBox="1"/>
          <p:nvPr/>
        </p:nvSpPr>
        <p:spPr>
          <a:xfrm>
            <a:off x="960120" y="2560320"/>
            <a:ext cx="2871216" cy="3383280"/>
          </a:xfrm>
          <a:prstGeom prst="rect">
            <a:avLst/>
          </a:prstGeom>
          <a:noFill/>
        </p:spPr>
        <p:txBody>
          <a:bodyPr wrap="square">
            <a:spAutoFit/>
          </a:bodyPr>
          <a:lstStyle/>
          <a:p>
            <a:pPr>
              <a:defRPr sz="1300">
                <a:solidFill>
                  <a:srgbClr val="0F172A"/>
                </a:solidFill>
              </a:defRPr>
            </a:pPr>
            <a:r>
              <a:t>Banyaknya tugas lintas mata kuliah membuat mahasiswa bingung menentukan prioritas.</a:t>
            </a:r>
            <a:br/>
            <a:br/>
            <a:r>
              <a:t>• Sering terjadi prokrastinasi hingga mendekati deadline.</a:t>
            </a:r>
            <a:br/>
            <a:r>
              <a:t>• Tidak ada pembobotan urgensi yang objektif dan terukur.</a:t>
            </a:r>
          </a:p>
        </p:txBody>
      </p:sp>
      <p:sp>
        <p:nvSpPr>
          <p:cNvPr id="8" name="Rounded Rectangle 7"/>
          <p:cNvSpPr/>
          <p:nvPr/>
        </p:nvSpPr>
        <p:spPr>
          <a:xfrm>
            <a:off x="4425696" y="1645920"/>
            <a:ext cx="3328416" cy="448056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08576" y="1828800"/>
            <a:ext cx="2962656" cy="548640"/>
          </a:xfrm>
          <a:prstGeom prst="roundRect">
            <a:avLst/>
          </a:prstGeom>
          <a:solidFill>
            <a:srgbClr val="F3E8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9333EA"/>
                </a:solidFill>
              </a:defRPr>
            </a:pPr>
            <a:r>
              <a:t>2. Penumpukan Slide (Passive Reading)</a:t>
            </a:r>
          </a:p>
        </p:txBody>
      </p:sp>
      <p:sp>
        <p:nvSpPr>
          <p:cNvPr id="10" name="TextBox 9"/>
          <p:cNvSpPr txBox="1"/>
          <p:nvPr/>
        </p:nvSpPr>
        <p:spPr>
          <a:xfrm>
            <a:off x="4654296" y="2560320"/>
            <a:ext cx="2871216" cy="3383280"/>
          </a:xfrm>
          <a:prstGeom prst="rect">
            <a:avLst/>
          </a:prstGeom>
          <a:noFill/>
        </p:spPr>
        <p:txBody>
          <a:bodyPr wrap="square">
            <a:spAutoFit/>
          </a:bodyPr>
          <a:lstStyle/>
          <a:p>
            <a:pPr>
              <a:defRPr sz="1300">
                <a:solidFill>
                  <a:srgbClr val="0F172A"/>
                </a:solidFill>
              </a:defRPr>
            </a:pPr>
            <a:r>
              <a:t>Materi kuliah berupa slide presentasi (.pptx / .pdf) sering menumpuk puluhan halaman.</a:t>
            </a:r>
            <a:br/>
            <a:br/>
            <a:r>
              <a:t>• Membaca pasif terbukti menghasilkan retensi rendah (&lt;20%).</a:t>
            </a:r>
            <a:br/>
            <a:r>
              <a:t>• Mahasiswa kekurangan latihan kuis dan active recall sebelum ujian.</a:t>
            </a:r>
          </a:p>
        </p:txBody>
      </p:sp>
      <p:sp>
        <p:nvSpPr>
          <p:cNvPr id="11" name="Rounded Rectangle 10"/>
          <p:cNvSpPr/>
          <p:nvPr/>
        </p:nvSpPr>
        <p:spPr>
          <a:xfrm>
            <a:off x="8119872" y="1645920"/>
            <a:ext cx="3328416" cy="4480560"/>
          </a:xfrm>
          <a:prstGeom prst="roundRect">
            <a:avLst/>
          </a:prstGeom>
          <a:solidFill>
            <a:srgbClr val="FFFFFF"/>
          </a:solidFill>
          <a:ln w="1905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02752" y="1828800"/>
            <a:ext cx="2962656" cy="548640"/>
          </a:xfrm>
          <a:prstGeom prst="roundRect">
            <a:avLst/>
          </a:prstGeom>
          <a:solidFill>
            <a:srgbClr val="FDF2F8"/>
          </a:solidFill>
          <a:ln>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C4899"/>
                </a:solidFill>
              </a:defRPr>
            </a:pPr>
            <a:r>
              <a:t>3. Tanpa Tutor &amp; Jadwal yang Teratur</a:t>
            </a:r>
          </a:p>
        </p:txBody>
      </p:sp>
      <p:sp>
        <p:nvSpPr>
          <p:cNvPr id="13" name="TextBox 12"/>
          <p:cNvSpPr txBox="1"/>
          <p:nvPr/>
        </p:nvSpPr>
        <p:spPr>
          <a:xfrm>
            <a:off x="8348472" y="2560320"/>
            <a:ext cx="2871216" cy="3383280"/>
          </a:xfrm>
          <a:prstGeom prst="rect">
            <a:avLst/>
          </a:prstGeom>
          <a:noFill/>
        </p:spPr>
        <p:txBody>
          <a:bodyPr wrap="square">
            <a:spAutoFit/>
          </a:bodyPr>
          <a:lstStyle/>
          <a:p>
            <a:pPr>
              <a:defRPr sz="1300">
                <a:solidFill>
                  <a:srgbClr val="0F172A"/>
                </a:solidFill>
              </a:defRPr>
            </a:pPr>
            <a:r>
              <a:t>Mahasiswa kesulitan memetakan waktu luang harian ke jadwal belajar yang realistis.</a:t>
            </a:r>
            <a:br/>
            <a:br/>
            <a:r>
              <a:t>• Tidak ada asisten tutor 24/7 saat mahasiswa belajar mandiri larut malam.</a:t>
            </a:r>
            <a:br/>
            <a:r>
              <a:t>• Kurang motivasi dan sering kehilangan fokus.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47472"/>
          </a:xfrm>
          <a:prstGeom prst="roundRect">
            <a:avLst/>
          </a:prstGeom>
          <a:solidFill>
            <a:srgbClr val="F3E8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SOLUSI &amp; NILAI TAMBAH</a:t>
            </a:r>
          </a:p>
        </p:txBody>
      </p:sp>
      <p:sp>
        <p:nvSpPr>
          <p:cNvPr id="4" name="TextBox 3"/>
          <p:cNvSpPr txBox="1"/>
          <p:nvPr/>
        </p:nvSpPr>
        <p:spPr>
          <a:xfrm>
            <a:off x="731520" y="868680"/>
            <a:ext cx="10698480" cy="731520"/>
          </a:xfrm>
          <a:prstGeom prst="rect">
            <a:avLst/>
          </a:prstGeom>
          <a:noFill/>
        </p:spPr>
        <p:txBody>
          <a:bodyPr wrap="square">
            <a:spAutoFit/>
          </a:bodyPr>
          <a:lstStyle/>
          <a:p>
            <a:pPr>
              <a:defRPr sz="2400" b="1">
                <a:solidFill>
                  <a:srgbClr val="0F172A"/>
                </a:solidFill>
              </a:defRPr>
            </a:pPr>
            <a:r>
              <a:t>Konsep Solusi: 4 Pilar Utama SmartStudy</a:t>
            </a:r>
          </a:p>
        </p:txBody>
      </p:sp>
      <p:sp>
        <p:nvSpPr>
          <p:cNvPr id="5" name="Rounded Rectangle 4"/>
          <p:cNvSpPr/>
          <p:nvPr/>
        </p:nvSpPr>
        <p:spPr>
          <a:xfrm>
            <a:off x="731520" y="1645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828800"/>
            <a:ext cx="109728" cy="1645920"/>
          </a:xfrm>
          <a:prstGeom prst="roundRect">
            <a:avLst/>
          </a:prstGeom>
          <a:solidFill>
            <a:srgbClr val="581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28800"/>
            <a:ext cx="4663440" cy="1645920"/>
          </a:xfrm>
          <a:prstGeom prst="rect">
            <a:avLst/>
          </a:prstGeom>
          <a:noFill/>
        </p:spPr>
        <p:txBody>
          <a:bodyPr wrap="square">
            <a:spAutoFit/>
          </a:bodyPr>
          <a:lstStyle/>
          <a:p>
            <a:pPr>
              <a:defRPr sz="1600" b="1">
                <a:solidFill>
                  <a:srgbClr val="581C87"/>
                </a:solidFill>
              </a:defRPr>
            </a:pPr>
            <a:r>
              <a:t>✦ Continuous AI Pipeline</a:t>
            </a:r>
          </a:p>
          <a:p>
            <a:pPr>
              <a:defRPr sz="1300">
                <a:solidFill>
                  <a:srgbClr val="0F172A"/>
                </a:solidFill>
              </a:defRPr>
            </a:pPr>
            <a:r>
              <a:t>Deteksi kategori tugas secara instan, hitung persentase prioritas otomatis, dan pecah tugas besar menjadi 4 subtask terjadwal.</a:t>
            </a:r>
          </a:p>
        </p:txBody>
      </p:sp>
      <p:sp>
        <p:nvSpPr>
          <p:cNvPr id="8" name="Rounded Rectangle 7"/>
          <p:cNvSpPr/>
          <p:nvPr/>
        </p:nvSpPr>
        <p:spPr>
          <a:xfrm>
            <a:off x="6217920" y="1645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55080" y="1828800"/>
            <a:ext cx="109728" cy="164592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828800"/>
            <a:ext cx="4663440" cy="1645920"/>
          </a:xfrm>
          <a:prstGeom prst="rect">
            <a:avLst/>
          </a:prstGeom>
          <a:noFill/>
        </p:spPr>
        <p:txBody>
          <a:bodyPr wrap="square">
            <a:spAutoFit/>
          </a:bodyPr>
          <a:lstStyle/>
          <a:p>
            <a:pPr>
              <a:defRPr sz="1600" b="1">
                <a:solidFill>
                  <a:srgbClr val="9333EA"/>
                </a:solidFill>
              </a:defRPr>
            </a:pPr>
            <a:r>
              <a:t>📚 PPT to Study AI</a:t>
            </a:r>
          </a:p>
          <a:p>
            <a:pPr>
              <a:defRPr sz="1300">
                <a:solidFill>
                  <a:srgbClr val="0F172A"/>
                </a:solidFill>
              </a:defRPr>
            </a:pPr>
            <a:r>
              <a:t>Ekstraksi slide (.pptx/.pdf) otomatis menjadi 3 mode: Kuis Interaktif, Flashcard 3D active recall, dan Rangkuman Catatan ujian.</a:t>
            </a:r>
          </a:p>
        </p:txBody>
      </p:sp>
      <p:sp>
        <p:nvSpPr>
          <p:cNvPr id="11" name="Rounded Rectangle 10"/>
          <p:cNvSpPr/>
          <p:nvPr/>
        </p:nvSpPr>
        <p:spPr>
          <a:xfrm>
            <a:off x="731520" y="3931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4114800"/>
            <a:ext cx="109728" cy="164592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114800"/>
            <a:ext cx="4663440" cy="1645920"/>
          </a:xfrm>
          <a:prstGeom prst="rect">
            <a:avLst/>
          </a:prstGeom>
          <a:noFill/>
        </p:spPr>
        <p:txBody>
          <a:bodyPr wrap="square">
            <a:spAutoFit/>
          </a:bodyPr>
          <a:lstStyle/>
          <a:p>
            <a:pPr>
              <a:defRPr sz="1600" b="1">
                <a:solidFill>
                  <a:srgbClr val="EC4899"/>
                </a:solidFill>
              </a:defRPr>
            </a:pPr>
            <a:r>
              <a:t>💬 24/7 Academic AI Tutor</a:t>
            </a:r>
          </a:p>
          <a:p>
            <a:pPr>
              <a:defRPr sz="1300">
                <a:solidFill>
                  <a:srgbClr val="0F172A"/>
                </a:solidFill>
              </a:defRPr>
            </a:pPr>
            <a:r>
              <a:t>Chatbot tanya jawab pintar yang dapat menjelaskan konsep siber, matematika, hingga koding pemrograman baris demi baris.</a:t>
            </a:r>
          </a:p>
        </p:txBody>
      </p:sp>
      <p:sp>
        <p:nvSpPr>
          <p:cNvPr id="14" name="Rounded Rectangle 13"/>
          <p:cNvSpPr/>
          <p:nvPr/>
        </p:nvSpPr>
        <p:spPr>
          <a:xfrm>
            <a:off x="6217920" y="3931920"/>
            <a:ext cx="52120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55080" y="4114800"/>
            <a:ext cx="109728" cy="1645920"/>
          </a:xfrm>
          <a:prstGeom prst="roundRect">
            <a:avLst/>
          </a:prstGeom>
          <a:solidFill>
            <a:srgbClr val="581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4114800"/>
            <a:ext cx="4663440" cy="1645920"/>
          </a:xfrm>
          <a:prstGeom prst="rect">
            <a:avLst/>
          </a:prstGeom>
          <a:noFill/>
        </p:spPr>
        <p:txBody>
          <a:bodyPr wrap="square">
            <a:spAutoFit/>
          </a:bodyPr>
          <a:lstStyle/>
          <a:p>
            <a:pPr>
              <a:defRPr sz="1600" b="1">
                <a:solidFill>
                  <a:srgbClr val="581C87"/>
                </a:solidFill>
              </a:defRPr>
            </a:pPr>
            <a:r>
              <a:t>🎯 Gamifikasi &amp; Audio Fokus</a:t>
            </a:r>
          </a:p>
          <a:p>
            <a:pPr>
              <a:defRPr sz="1300">
                <a:solidFill>
                  <a:srgbClr val="0F172A"/>
                </a:solidFill>
              </a:defRPr>
            </a:pPr>
            <a:r>
              <a:t>Streak counter konsistensi harian, maskot motivator interaktif, confetti perayaan, dan Pomodoro ambient rain sound synthesizer.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47472"/>
          </a:xfrm>
          <a:prstGeom prst="roundRect">
            <a:avLst/>
          </a:prstGeom>
          <a:solidFill>
            <a:srgbClr val="F3E8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AI TOOLS &amp; FRAMEWORK</a:t>
            </a:r>
          </a:p>
        </p:txBody>
      </p:sp>
      <p:sp>
        <p:nvSpPr>
          <p:cNvPr id="4" name="TextBox 3"/>
          <p:cNvSpPr txBox="1"/>
          <p:nvPr/>
        </p:nvSpPr>
        <p:spPr>
          <a:xfrm>
            <a:off x="731520" y="868680"/>
            <a:ext cx="10698480" cy="731520"/>
          </a:xfrm>
          <a:prstGeom prst="rect">
            <a:avLst/>
          </a:prstGeom>
          <a:noFill/>
        </p:spPr>
        <p:txBody>
          <a:bodyPr wrap="square">
            <a:spAutoFit/>
          </a:bodyPr>
          <a:lstStyle/>
          <a:p>
            <a:pPr>
              <a:defRPr sz="2400" b="1">
                <a:solidFill>
                  <a:srgbClr val="0F172A"/>
                </a:solidFill>
              </a:defRPr>
            </a:pPr>
            <a:r>
              <a:t>Teknologi &amp; AI Stack yang Digunakan</a:t>
            </a:r>
          </a:p>
        </p:txBody>
      </p:sp>
      <p:sp>
        <p:nvSpPr>
          <p:cNvPr id="5" name="Rounded Rectangle 4"/>
          <p:cNvSpPr/>
          <p:nvPr/>
        </p:nvSpPr>
        <p:spPr>
          <a:xfrm>
            <a:off x="731520" y="1645920"/>
            <a:ext cx="2066543"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228600" cy="228600"/>
          </a:xfrm>
          <a:prstGeom prst="ellipse">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48840"/>
            <a:ext cx="1792223" cy="3749039"/>
          </a:xfrm>
          <a:prstGeom prst="rect">
            <a:avLst/>
          </a:prstGeom>
          <a:noFill/>
        </p:spPr>
        <p:txBody>
          <a:bodyPr wrap="square">
            <a:spAutoFit/>
          </a:bodyPr>
          <a:lstStyle/>
          <a:p>
            <a:pPr>
              <a:defRPr sz="1300" b="1">
                <a:solidFill>
                  <a:srgbClr val="0F172A"/>
                </a:solidFill>
              </a:defRPr>
            </a:pPr>
            <a:r>
              <a:t>Google Gemini API</a:t>
            </a:r>
          </a:p>
          <a:p>
            <a:pPr>
              <a:defRPr sz="1000" b="1">
                <a:solidFill>
                  <a:srgbClr val="9333EA"/>
                </a:solidFill>
              </a:defRPr>
            </a:pPr>
            <a:r>
              <a:t>Core AI Reasoning</a:t>
            </a:r>
          </a:p>
          <a:p>
            <a:br/>
            <a:pPr>
              <a:defRPr sz="1100">
                <a:solidFill>
                  <a:srgbClr val="64748B"/>
                </a:solidFill>
              </a:defRPr>
            </a:pPr>
            <a:r>
              <a:t>• Menggunakan model resmi: gemini-3-flash-preview &amp; gemini-3.1-flash-lite.</a:t>
            </a:r>
            <a:br/>
            <a:r>
              <a:t>• Reasoning analisis tugas, pembuatan soal kuis, penyusunan flashcards, dan AI Tutor.</a:t>
            </a:r>
          </a:p>
        </p:txBody>
      </p:sp>
      <p:sp>
        <p:nvSpPr>
          <p:cNvPr id="8" name="Rounded Rectangle 7"/>
          <p:cNvSpPr/>
          <p:nvPr/>
        </p:nvSpPr>
        <p:spPr>
          <a:xfrm>
            <a:off x="2971800" y="1645920"/>
            <a:ext cx="2066543"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154680" y="1828800"/>
            <a:ext cx="228600" cy="22860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2148840"/>
            <a:ext cx="1792223" cy="3749039"/>
          </a:xfrm>
          <a:prstGeom prst="rect">
            <a:avLst/>
          </a:prstGeom>
          <a:noFill/>
        </p:spPr>
        <p:txBody>
          <a:bodyPr wrap="square">
            <a:spAutoFit/>
          </a:bodyPr>
          <a:lstStyle/>
          <a:p>
            <a:pPr>
              <a:defRPr sz="1300" b="1">
                <a:solidFill>
                  <a:srgbClr val="0F172A"/>
                </a:solidFill>
              </a:defRPr>
            </a:pPr>
            <a:r>
              <a:t>Python Document Parser</a:t>
            </a:r>
          </a:p>
          <a:p>
            <a:pPr>
              <a:defRPr sz="1000" b="1">
                <a:solidFill>
                  <a:srgbClr val="EC4899"/>
                </a:solidFill>
              </a:defRPr>
            </a:pPr>
            <a:r>
              <a:t>Ekstraksi Slide Kuliah</a:t>
            </a:r>
          </a:p>
          <a:p>
            <a:br/>
            <a:pPr>
              <a:defRPr sz="1100">
                <a:solidFill>
                  <a:srgbClr val="64748B"/>
                </a:solidFill>
              </a:defRPr>
            </a:pPr>
            <a:r>
              <a:t>• Library: python-pptx, pypdf, re, json.</a:t>
            </a:r>
            <a:br/>
            <a:r>
              <a:t>• Membedah dokumen PPTX/PDF menjadi struktur slide, bullet point, formula, dan konsep kunci.</a:t>
            </a:r>
          </a:p>
        </p:txBody>
      </p:sp>
      <p:sp>
        <p:nvSpPr>
          <p:cNvPr id="11" name="Rounded Rectangle 10"/>
          <p:cNvSpPr/>
          <p:nvPr/>
        </p:nvSpPr>
        <p:spPr>
          <a:xfrm>
            <a:off x="5212080" y="1645920"/>
            <a:ext cx="2066543"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394960" y="1828800"/>
            <a:ext cx="228600" cy="228600"/>
          </a:xfrm>
          <a:prstGeom prst="ellipse">
            <a:avLst/>
          </a:prstGeom>
          <a:solidFill>
            <a:srgbClr val="581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9240" y="2148840"/>
            <a:ext cx="1792223" cy="3749039"/>
          </a:xfrm>
          <a:prstGeom prst="rect">
            <a:avLst/>
          </a:prstGeom>
          <a:noFill/>
        </p:spPr>
        <p:txBody>
          <a:bodyPr wrap="square">
            <a:spAutoFit/>
          </a:bodyPr>
          <a:lstStyle/>
          <a:p>
            <a:pPr>
              <a:defRPr sz="1300" b="1">
                <a:solidFill>
                  <a:srgbClr val="0F172A"/>
                </a:solidFill>
              </a:defRPr>
            </a:pPr>
            <a:r>
              <a:t>Laravel 12 (PHP 8.2+)</a:t>
            </a:r>
          </a:p>
          <a:p>
            <a:pPr>
              <a:defRPr sz="1000" b="1">
                <a:solidFill>
                  <a:srgbClr val="581C87"/>
                </a:solidFill>
              </a:defRPr>
            </a:pPr>
            <a:r>
              <a:t>Backend Architecture</a:t>
            </a:r>
          </a:p>
          <a:p>
            <a:br/>
            <a:pPr>
              <a:defRPr sz="1100">
                <a:solidFill>
                  <a:srgbClr val="64748B"/>
                </a:solidFill>
              </a:defRPr>
            </a:pPr>
            <a:r>
              <a:t>• RESTful API, SQLite DB, ORM Eloquent.</a:t>
            </a:r>
            <a:br/>
            <a:r>
              <a:t>• Priority Scoring Calculator matematis: f(deadline, durasi, kategori bobot).</a:t>
            </a:r>
          </a:p>
        </p:txBody>
      </p:sp>
      <p:sp>
        <p:nvSpPr>
          <p:cNvPr id="14" name="Rounded Rectangle 13"/>
          <p:cNvSpPr/>
          <p:nvPr/>
        </p:nvSpPr>
        <p:spPr>
          <a:xfrm>
            <a:off x="7452360" y="1645920"/>
            <a:ext cx="2066543"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635240" y="1828800"/>
            <a:ext cx="228600" cy="228600"/>
          </a:xfrm>
          <a:prstGeom prst="ellipse">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2148840"/>
            <a:ext cx="1792223" cy="3749039"/>
          </a:xfrm>
          <a:prstGeom prst="rect">
            <a:avLst/>
          </a:prstGeom>
          <a:noFill/>
        </p:spPr>
        <p:txBody>
          <a:bodyPr wrap="square">
            <a:spAutoFit/>
          </a:bodyPr>
          <a:lstStyle/>
          <a:p>
            <a:pPr>
              <a:defRPr sz="1300" b="1">
                <a:solidFill>
                  <a:srgbClr val="0F172A"/>
                </a:solidFill>
              </a:defRPr>
            </a:pPr>
            <a:r>
              <a:t>Tailwind CSS &amp; Alpine.js</a:t>
            </a:r>
          </a:p>
          <a:p>
            <a:pPr>
              <a:defRPr sz="1000" b="1">
                <a:solidFill>
                  <a:srgbClr val="9333EA"/>
                </a:solidFill>
              </a:defRPr>
            </a:pPr>
            <a:r>
              <a:t>Frontend Reaktif Modern</a:t>
            </a:r>
          </a:p>
          <a:p>
            <a:br/>
            <a:pPr>
              <a:defRPr sz="1100">
                <a:solidFill>
                  <a:srgbClr val="64748B"/>
                </a:solidFill>
              </a:defRPr>
            </a:pPr>
            <a:r>
              <a:t>• Tampilan bersih pink-purple, responsive grid.</a:t>
            </a:r>
            <a:br/>
            <a:r>
              <a:t>• Zero-FOUC (Flash of Unstyled Content) via [x-cloak] dan animasi flip 3D kartu.</a:t>
            </a:r>
          </a:p>
        </p:txBody>
      </p:sp>
      <p:sp>
        <p:nvSpPr>
          <p:cNvPr id="17" name="Rounded Rectangle 16"/>
          <p:cNvSpPr/>
          <p:nvPr/>
        </p:nvSpPr>
        <p:spPr>
          <a:xfrm>
            <a:off x="9692640" y="1645920"/>
            <a:ext cx="2066543"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20" y="1828800"/>
            <a:ext cx="228600" cy="22860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2148840"/>
            <a:ext cx="1792223" cy="3749039"/>
          </a:xfrm>
          <a:prstGeom prst="rect">
            <a:avLst/>
          </a:prstGeom>
          <a:noFill/>
        </p:spPr>
        <p:txBody>
          <a:bodyPr wrap="square">
            <a:spAutoFit/>
          </a:bodyPr>
          <a:lstStyle/>
          <a:p>
            <a:pPr>
              <a:defRPr sz="1300" b="1">
                <a:solidFill>
                  <a:srgbClr val="0F172A"/>
                </a:solidFill>
              </a:defRPr>
            </a:pPr>
            <a:r>
              <a:t>Web Audio API Native</a:t>
            </a:r>
          </a:p>
          <a:p>
            <a:pPr>
              <a:defRPr sz="1000" b="1">
                <a:solidFill>
                  <a:srgbClr val="EC4899"/>
                </a:solidFill>
              </a:defRPr>
            </a:pPr>
            <a:r>
              <a:t>Audio Generator Mandiri</a:t>
            </a:r>
          </a:p>
          <a:p>
            <a:br/>
            <a:pPr>
              <a:defRPr sz="1100">
                <a:solidFill>
                  <a:srgbClr val="64748B"/>
                </a:solidFill>
              </a:defRPr>
            </a:pPr>
            <a:r>
              <a:t>• Algoritma white/pink noise audio hujan ambient untuk fokus belajar.</a:t>
            </a:r>
            <a:br/>
            <a:r>
              <a:t>• Chime synthesizer kemenangan tanpa file MP3 eksternal.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47472"/>
          </a:xfrm>
          <a:prstGeom prst="roundRect">
            <a:avLst/>
          </a:prstGeom>
          <a:solidFill>
            <a:srgbClr val="F3E8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WORKFLOW &amp; PIPELINE</a:t>
            </a:r>
          </a:p>
        </p:txBody>
      </p:sp>
      <p:sp>
        <p:nvSpPr>
          <p:cNvPr id="4" name="TextBox 3"/>
          <p:cNvSpPr txBox="1"/>
          <p:nvPr/>
        </p:nvSpPr>
        <p:spPr>
          <a:xfrm>
            <a:off x="731520" y="868680"/>
            <a:ext cx="10698480" cy="731520"/>
          </a:xfrm>
          <a:prstGeom prst="rect">
            <a:avLst/>
          </a:prstGeom>
          <a:noFill/>
        </p:spPr>
        <p:txBody>
          <a:bodyPr wrap="square">
            <a:spAutoFit/>
          </a:bodyPr>
          <a:lstStyle/>
          <a:p>
            <a:pPr>
              <a:defRPr sz="2400" b="1">
                <a:solidFill>
                  <a:srgbClr val="0F172A"/>
                </a:solidFill>
              </a:defRPr>
            </a:pPr>
            <a:r>
              <a:t>Alur Sistem: Continuous AI Pipeline (1-2-3)</a:t>
            </a:r>
          </a:p>
        </p:txBody>
      </p:sp>
      <p:sp>
        <p:nvSpPr>
          <p:cNvPr id="5" name="Rounded Rectangle 4"/>
          <p:cNvSpPr/>
          <p:nvPr/>
        </p:nvSpPr>
        <p:spPr>
          <a:xfrm>
            <a:off x="731520" y="1645920"/>
            <a:ext cx="3328416" cy="4480560"/>
          </a:xfrm>
          <a:prstGeom prst="roundRect">
            <a:avLst/>
          </a:prstGeom>
          <a:solidFill>
            <a:srgbClr val="FFFFFF"/>
          </a:solidFill>
          <a:ln w="254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2962656" cy="45720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Step 1: Input &amp; Deteksi Kategori</a:t>
            </a:r>
          </a:p>
        </p:txBody>
      </p:sp>
      <p:sp>
        <p:nvSpPr>
          <p:cNvPr id="7" name="TextBox 6"/>
          <p:cNvSpPr txBox="1"/>
          <p:nvPr/>
        </p:nvSpPr>
        <p:spPr>
          <a:xfrm>
            <a:off x="960120" y="2468880"/>
            <a:ext cx="2871216" cy="3474720"/>
          </a:xfrm>
          <a:prstGeom prst="rect">
            <a:avLst/>
          </a:prstGeom>
          <a:noFill/>
        </p:spPr>
        <p:txBody>
          <a:bodyPr wrap="square">
            <a:spAutoFit/>
          </a:bodyPr>
          <a:lstStyle/>
          <a:p>
            <a:pPr>
              <a:defRPr sz="1300">
                <a:solidFill>
                  <a:srgbClr val="0F172A"/>
                </a:solidFill>
              </a:defRPr>
            </a:pPr>
            <a:r>
              <a:t>Mahasiswa menginput judul tugas atau upload slide presentasi kuliah.</a:t>
            </a:r>
            <a:br/>
            <a:br/>
            <a:r>
              <a:t>• Google AI Studio (Gemini) mendeteksi domain studi (Programming, Cybersecurity, Math, dll).</a:t>
            </a:r>
            <a:br/>
            <a:r>
              <a:t>• Python mengekstrak struktur topik dan slide.</a:t>
            </a:r>
          </a:p>
        </p:txBody>
      </p:sp>
      <p:sp>
        <p:nvSpPr>
          <p:cNvPr id="8" name="Rounded Rectangle 7"/>
          <p:cNvSpPr/>
          <p:nvPr/>
        </p:nvSpPr>
        <p:spPr>
          <a:xfrm>
            <a:off x="4425696" y="1645920"/>
            <a:ext cx="3328416" cy="4480560"/>
          </a:xfrm>
          <a:prstGeom prst="roundRect">
            <a:avLst/>
          </a:prstGeom>
          <a:solidFill>
            <a:srgbClr val="FFFFFF"/>
          </a:solidFill>
          <a:ln w="254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08576" y="1828800"/>
            <a:ext cx="2962656" cy="45720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Step 2: Backend Priority Calculator</a:t>
            </a:r>
          </a:p>
        </p:txBody>
      </p:sp>
      <p:sp>
        <p:nvSpPr>
          <p:cNvPr id="10" name="TextBox 9"/>
          <p:cNvSpPr txBox="1"/>
          <p:nvPr/>
        </p:nvSpPr>
        <p:spPr>
          <a:xfrm>
            <a:off x="4654296" y="2468880"/>
            <a:ext cx="2871216" cy="3474720"/>
          </a:xfrm>
          <a:prstGeom prst="rect">
            <a:avLst/>
          </a:prstGeom>
          <a:noFill/>
        </p:spPr>
        <p:txBody>
          <a:bodyPr wrap="square">
            <a:spAutoFit/>
          </a:bodyPr>
          <a:lstStyle/>
          <a:p>
            <a:pPr>
              <a:defRPr sz="1300">
                <a:solidFill>
                  <a:srgbClr val="0F172A"/>
                </a:solidFill>
              </a:defRPr>
            </a:pPr>
            <a:r>
              <a:t>Sistem secara dinamis menghitung bobot urgensi tugas:</a:t>
            </a:r>
            <a:br/>
            <a:br/>
            <a:r>
              <a:t>• High Priority (92% Urgensi) -&gt; Deadline dekat</a:t>
            </a:r>
            <a:br/>
            <a:r>
              <a:t>• Medium Priority (65% Urgensi)</a:t>
            </a:r>
            <a:br/>
            <a:r>
              <a:t>• Low Priority (35% Urgensi)</a:t>
            </a:r>
            <a:br/>
            <a:r>
              <a:t>• Menentukan durasi estimasi jam belajar yang dibutuhkan.</a:t>
            </a:r>
          </a:p>
        </p:txBody>
      </p:sp>
      <p:sp>
        <p:nvSpPr>
          <p:cNvPr id="11" name="Rounded Rectangle 10"/>
          <p:cNvSpPr/>
          <p:nvPr/>
        </p:nvSpPr>
        <p:spPr>
          <a:xfrm>
            <a:off x="8119872" y="1645920"/>
            <a:ext cx="3328416" cy="4480560"/>
          </a:xfrm>
          <a:prstGeom prst="roundRect">
            <a:avLst/>
          </a:prstGeom>
          <a:solidFill>
            <a:srgbClr val="FFFFFF"/>
          </a:solidFill>
          <a:ln w="25400">
            <a:solidFill>
              <a:srgbClr val="581C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02752" y="1828800"/>
            <a:ext cx="2962656" cy="457200"/>
          </a:xfrm>
          <a:prstGeom prst="roundRect">
            <a:avLst/>
          </a:prstGeom>
          <a:solidFill>
            <a:srgbClr val="581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Step 3: Gemini &amp; GPT Adaptive Scheduler</a:t>
            </a:r>
          </a:p>
        </p:txBody>
      </p:sp>
      <p:sp>
        <p:nvSpPr>
          <p:cNvPr id="13" name="TextBox 12"/>
          <p:cNvSpPr txBox="1"/>
          <p:nvPr/>
        </p:nvSpPr>
        <p:spPr>
          <a:xfrm>
            <a:off x="8348472" y="2468880"/>
            <a:ext cx="2871216" cy="3474720"/>
          </a:xfrm>
          <a:prstGeom prst="rect">
            <a:avLst/>
          </a:prstGeom>
          <a:noFill/>
        </p:spPr>
        <p:txBody>
          <a:bodyPr wrap="square">
            <a:spAutoFit/>
          </a:bodyPr>
          <a:lstStyle/>
          <a:p>
            <a:pPr>
              <a:defRPr sz="1300">
                <a:solidFill>
                  <a:srgbClr val="0F172A"/>
                </a:solidFill>
              </a:defRPr>
            </a:pPr>
            <a:r>
              <a:t>AI memecah tugas besar menjadi 4 subtask terstruktur yang terukur.</a:t>
            </a:r>
            <a:br/>
            <a:br/>
            <a:r>
              <a:t>• Subtask secara otomatis dislotkan ke matriks kalender belajar mingguan.</a:t>
            </a:r>
            <a:br/>
            <a:r>
              <a:t>• Menghasilkan kuis dan flashcard siap pakai.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47472"/>
          </a:xfrm>
          <a:prstGeom prst="roundRect">
            <a:avLst/>
          </a:prstGeom>
          <a:solidFill>
            <a:srgbClr val="F3E8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ANTARMUKA WEBSITE</a:t>
            </a:r>
          </a:p>
        </p:txBody>
      </p:sp>
      <p:sp>
        <p:nvSpPr>
          <p:cNvPr id="4" name="TextBox 3"/>
          <p:cNvSpPr txBox="1"/>
          <p:nvPr/>
        </p:nvSpPr>
        <p:spPr>
          <a:xfrm>
            <a:off x="731520" y="868680"/>
            <a:ext cx="10698480" cy="731520"/>
          </a:xfrm>
          <a:prstGeom prst="rect">
            <a:avLst/>
          </a:prstGeom>
          <a:noFill/>
        </p:spPr>
        <p:txBody>
          <a:bodyPr wrap="square">
            <a:spAutoFit/>
          </a:bodyPr>
          <a:lstStyle/>
          <a:p>
            <a:pPr>
              <a:defRPr sz="2400" b="1">
                <a:solidFill>
                  <a:srgbClr val="0F172A"/>
                </a:solidFill>
              </a:defRPr>
            </a:pPr>
            <a:r>
              <a:t>Demo Fitur 1: Dashboard &amp; Productivity Hub</a:t>
            </a:r>
          </a:p>
        </p:txBody>
      </p:sp>
      <p:sp>
        <p:nvSpPr>
          <p:cNvPr id="5" name="TextBox 4"/>
          <p:cNvSpPr txBox="1"/>
          <p:nvPr/>
        </p:nvSpPr>
        <p:spPr>
          <a:xfrm>
            <a:off x="731520" y="1645920"/>
            <a:ext cx="4754880" cy="4480560"/>
          </a:xfrm>
          <a:prstGeom prst="rect">
            <a:avLst/>
          </a:prstGeom>
          <a:noFill/>
        </p:spPr>
        <p:txBody>
          <a:bodyPr wrap="square">
            <a:spAutoFit/>
          </a:bodyPr>
          <a:lstStyle/>
          <a:p>
            <a:pPr>
              <a:defRPr sz="1600" b="1">
                <a:solidFill>
                  <a:srgbClr val="581C87"/>
                </a:solidFill>
              </a:defRPr>
            </a:pPr>
            <a:r>
              <a:t>Komponen Utama Dashboard (/):</a:t>
            </a:r>
          </a:p>
          <a:p>
            <a:br/>
            <a:pPr>
              <a:defRPr sz="1200">
                <a:solidFill>
                  <a:srgbClr val="0F172A"/>
                </a:solidFill>
              </a:defRPr>
            </a:pPr>
            <a:r>
              <a:t>📊 4 Kartu Metrik: Total Tasks, Due This Week, Completed, dan Total Jam Belajar.</a:t>
            </a:r>
          </a:p>
          <a:p>
            <a:br/>
            <a:pPr>
              <a:defRPr sz="1200">
                <a:solidFill>
                  <a:srgbClr val="0F172A"/>
                </a:solidFill>
              </a:defRPr>
            </a:pPr>
            <a:r>
              <a:t>🔥 Streak &amp; Focus Booster: Pelacak konsistensi belajar harian dan alokasi waktu fokus.</a:t>
            </a:r>
          </a:p>
          <a:p>
            <a:br/>
            <a:pPr>
              <a:defRPr sz="1200">
                <a:solidFill>
                  <a:srgbClr val="0F172A"/>
                </a:solidFill>
              </a:defRPr>
            </a:pPr>
            <a:r>
              <a:t>📝 My Tasks Quick Checklist: Akses tugas teratas dengan filter interaktif satu klik.</a:t>
            </a:r>
          </a:p>
          <a:p>
            <a:br/>
            <a:pPr>
              <a:defRPr sz="1200">
                <a:solidFill>
                  <a:srgbClr val="0F172A"/>
                </a:solidFill>
              </a:defRPr>
            </a:pPr>
            <a:r>
              <a:t>💡 AI Priority Insights: Rekomendasi subtask dan strategi belajar prioritas tertinggi.</a:t>
            </a:r>
          </a:p>
          <a:p>
            <a:br/>
            <a:pPr>
              <a:defRPr sz="1200">
                <a:solidFill>
                  <a:srgbClr val="0F172A"/>
                </a:solidFill>
              </a:defRPr>
            </a:pPr>
            <a:r>
              <a:t>🐱 Maskot Interaktif &amp; Confetti: Kutipan motivasi penyemangat dan selebrasi visual.</a:t>
            </a:r>
          </a:p>
          <a:p>
            <a:br/>
            <a:pPr>
              <a:defRPr sz="1200">
                <a:solidFill>
                  <a:srgbClr val="0F172A"/>
                </a:solidFill>
              </a:defRPr>
            </a:pPr>
            <a:r>
              <a:t>🎧 Pomodoro Focus Ambient: Pengatur waktu fokus 25 menit dengan suara hujan sintetis.</a:t>
            </a:r>
          </a:p>
        </p:txBody>
      </p:sp>
      <p:pic>
        <p:nvPicPr>
          <p:cNvPr id="6" name="Picture 5" descr="Screen_1_Dashboard.png"/>
          <p:cNvPicPr>
            <a:picLocks noChangeAspect="1"/>
          </p:cNvPicPr>
          <p:nvPr/>
        </p:nvPicPr>
        <p:blipFill>
          <a:blip r:embed="rId2"/>
          <a:stretch>
            <a:fillRect/>
          </a:stretch>
        </p:blipFill>
        <p:spPr>
          <a:xfrm>
            <a:off x="5669280" y="1645920"/>
            <a:ext cx="5760720" cy="383673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47472"/>
          </a:xfrm>
          <a:prstGeom prst="roundRect">
            <a:avLst/>
          </a:prstGeom>
          <a:solidFill>
            <a:srgbClr val="F3E8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MANAJEMEN WAKTU ADAPTIF</a:t>
            </a:r>
          </a:p>
        </p:txBody>
      </p:sp>
      <p:sp>
        <p:nvSpPr>
          <p:cNvPr id="4" name="TextBox 3"/>
          <p:cNvSpPr txBox="1"/>
          <p:nvPr/>
        </p:nvSpPr>
        <p:spPr>
          <a:xfrm>
            <a:off x="731520" y="868680"/>
            <a:ext cx="10698480" cy="731520"/>
          </a:xfrm>
          <a:prstGeom prst="rect">
            <a:avLst/>
          </a:prstGeom>
          <a:noFill/>
        </p:spPr>
        <p:txBody>
          <a:bodyPr wrap="square">
            <a:spAutoFit/>
          </a:bodyPr>
          <a:lstStyle/>
          <a:p>
            <a:pPr>
              <a:defRPr sz="2400" b="1">
                <a:solidFill>
                  <a:srgbClr val="0F172A"/>
                </a:solidFill>
              </a:defRPr>
            </a:pPr>
            <a:r>
              <a:t>Demo Fitur 2: Manajemen Tugas Cerdas &amp; Study Plan</a:t>
            </a:r>
          </a:p>
        </p:txBody>
      </p:sp>
      <p:sp>
        <p:nvSpPr>
          <p:cNvPr id="5" name="Rounded Rectangle 4"/>
          <p:cNvSpPr/>
          <p:nvPr/>
        </p:nvSpPr>
        <p:spPr>
          <a:xfrm>
            <a:off x="731520" y="1645920"/>
            <a:ext cx="512064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4754880" cy="2011680"/>
          </a:xfrm>
          <a:prstGeom prst="rect">
            <a:avLst/>
          </a:prstGeom>
          <a:noFill/>
        </p:spPr>
        <p:txBody>
          <a:bodyPr wrap="square">
            <a:spAutoFit/>
          </a:bodyPr>
          <a:lstStyle/>
          <a:p>
            <a:pPr>
              <a:defRPr sz="1500" b="1">
                <a:solidFill>
                  <a:srgbClr val="9333EA"/>
                </a:solidFill>
              </a:defRPr>
            </a:pPr>
            <a:r>
              <a:t>1. Halaman My Tasks (/tasks)</a:t>
            </a:r>
          </a:p>
          <a:p>
            <a:pPr>
              <a:defRPr sz="1200">
                <a:solidFill>
                  <a:srgbClr val="0F172A"/>
                </a:solidFill>
              </a:defRPr>
            </a:pPr>
            <a:r>
              <a:t>• Filter status tugas: All, Pending, Completed.</a:t>
            </a:r>
            <a:br/>
            <a:r>
              <a:t>• Pengurutan berdasarkan prioritas (High, Medium, Low).</a:t>
            </a:r>
            <a:br/>
            <a:r>
              <a:t>• Donut Chart SVG kategori studi (Programming, Cyber, Math).</a:t>
            </a:r>
            <a:br/>
            <a:r>
              <a:t>• Modal Continuous AI Pipeline untuk input tugas baru.</a:t>
            </a:r>
          </a:p>
        </p:txBody>
      </p:sp>
      <p:pic>
        <p:nvPicPr>
          <p:cNvPr id="7" name="Picture 6" descr="Screen_2_MyTasks.png"/>
          <p:cNvPicPr>
            <a:picLocks noChangeAspect="1"/>
          </p:cNvPicPr>
          <p:nvPr/>
        </p:nvPicPr>
        <p:blipFill>
          <a:blip r:embed="rId2"/>
          <a:stretch>
            <a:fillRect/>
          </a:stretch>
        </p:blipFill>
        <p:spPr>
          <a:xfrm>
            <a:off x="914400" y="3474720"/>
            <a:ext cx="4754880" cy="1578769"/>
          </a:xfrm>
          <a:prstGeom prst="rect">
            <a:avLst/>
          </a:prstGeom>
        </p:spPr>
      </p:pic>
      <p:sp>
        <p:nvSpPr>
          <p:cNvPr id="8" name="Rounded Rectangle 7"/>
          <p:cNvSpPr/>
          <p:nvPr/>
        </p:nvSpPr>
        <p:spPr>
          <a:xfrm>
            <a:off x="6309360" y="1645920"/>
            <a:ext cx="512064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737360"/>
            <a:ext cx="4754880" cy="2011680"/>
          </a:xfrm>
          <a:prstGeom prst="rect">
            <a:avLst/>
          </a:prstGeom>
          <a:noFill/>
        </p:spPr>
        <p:txBody>
          <a:bodyPr wrap="square">
            <a:spAutoFit/>
          </a:bodyPr>
          <a:lstStyle/>
          <a:p>
            <a:pPr>
              <a:defRPr sz="1500" b="1">
                <a:solidFill>
                  <a:srgbClr val="EC4899"/>
                </a:solidFill>
              </a:defRPr>
            </a:pPr>
            <a:r>
              <a:t>2. Halaman Study Plan (/study-plan)</a:t>
            </a:r>
          </a:p>
          <a:p>
            <a:pPr>
              <a:defRPr sz="1200">
                <a:solidFill>
                  <a:srgbClr val="0F172A"/>
                </a:solidFill>
              </a:defRPr>
            </a:pPr>
            <a:r>
              <a:t>• Matriks jadwal mingguan (Senin s/d Minggu).</a:t>
            </a:r>
            <a:br/>
            <a:r>
              <a:t>• Pemetaan slot jam belajar optimal (7 PM, 8 PM, 9 PM).</a:t>
            </a:r>
            <a:br/>
            <a:r>
              <a:t>• Indikator visual kartu tugas sesuai warna kategori.</a:t>
            </a:r>
            <a:br/>
            <a:r>
              <a:t>• Kalender pemilih tanggal interaktif (Calendar Picker).</a:t>
            </a:r>
          </a:p>
        </p:txBody>
      </p:sp>
      <p:pic>
        <p:nvPicPr>
          <p:cNvPr id="10" name="Picture 9" descr="Screen_3_StudyPlan.png"/>
          <p:cNvPicPr>
            <a:picLocks noChangeAspect="1"/>
          </p:cNvPicPr>
          <p:nvPr/>
        </p:nvPicPr>
        <p:blipFill>
          <a:blip r:embed="rId3"/>
          <a:stretch>
            <a:fillRect/>
          </a:stretch>
        </p:blipFill>
        <p:spPr>
          <a:xfrm>
            <a:off x="6492240" y="3474720"/>
            <a:ext cx="4754880" cy="157876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47472"/>
          </a:xfrm>
          <a:prstGeom prst="roundRect">
            <a:avLst/>
          </a:prstGeom>
          <a:solidFill>
            <a:srgbClr val="F3E8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EKSTRAKSI MATERI OTOMATIS</a:t>
            </a:r>
          </a:p>
        </p:txBody>
      </p:sp>
      <p:sp>
        <p:nvSpPr>
          <p:cNvPr id="4" name="TextBox 3"/>
          <p:cNvSpPr txBox="1"/>
          <p:nvPr/>
        </p:nvSpPr>
        <p:spPr>
          <a:xfrm>
            <a:off x="731520" y="868680"/>
            <a:ext cx="10698480" cy="731520"/>
          </a:xfrm>
          <a:prstGeom prst="rect">
            <a:avLst/>
          </a:prstGeom>
          <a:noFill/>
        </p:spPr>
        <p:txBody>
          <a:bodyPr wrap="square">
            <a:spAutoFit/>
          </a:bodyPr>
          <a:lstStyle/>
          <a:p>
            <a:pPr>
              <a:defRPr sz="2400" b="1">
                <a:solidFill>
                  <a:srgbClr val="0F172A"/>
                </a:solidFill>
              </a:defRPr>
            </a:pPr>
            <a:r>
              <a:t>Demo Fitur 3: PPT to Study AI (3 Mode Belajar)</a:t>
            </a:r>
          </a:p>
        </p:txBody>
      </p:sp>
      <p:sp>
        <p:nvSpPr>
          <p:cNvPr id="5" name="Rounded Rectangle 4"/>
          <p:cNvSpPr/>
          <p:nvPr/>
        </p:nvSpPr>
        <p:spPr>
          <a:xfrm>
            <a:off x="731520" y="1645920"/>
            <a:ext cx="3328416" cy="20116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054096" cy="1828800"/>
          </a:xfrm>
          <a:prstGeom prst="rect">
            <a:avLst/>
          </a:prstGeom>
          <a:noFill/>
        </p:spPr>
        <p:txBody>
          <a:bodyPr wrap="square">
            <a:spAutoFit/>
          </a:bodyPr>
          <a:lstStyle/>
          <a:p>
            <a:pPr>
              <a:defRPr sz="1400" b="1">
                <a:solidFill>
                  <a:srgbClr val="9333EA"/>
                </a:solidFill>
              </a:defRPr>
            </a:pPr>
            <a:r>
              <a:t>1. Kuis Interaktif</a:t>
            </a:r>
          </a:p>
          <a:p>
            <a:pPr>
              <a:defRPr sz="1000">
                <a:solidFill>
                  <a:srgbClr val="0F172A"/>
                </a:solidFill>
              </a:defRPr>
            </a:pPr>
            <a:r>
              <a:t>• Menghasilkan soal pilihan ganda otomatis dari isi slide kuliah.</a:t>
            </a:r>
            <a:br/>
            <a:r>
              <a:t>• Evaluasi instan: skor langsung, penanda jawaban benar/salah, dan penjelasan ilmiah.</a:t>
            </a:r>
            <a:br/>
            <a:r>
              <a:t>• Tombol Refresh Soal Baru untuk menghasilkan variasi pertanyaan baru.</a:t>
            </a:r>
          </a:p>
        </p:txBody>
      </p:sp>
      <p:sp>
        <p:nvSpPr>
          <p:cNvPr id="7" name="Rounded Rectangle 6"/>
          <p:cNvSpPr/>
          <p:nvPr/>
        </p:nvSpPr>
        <p:spPr>
          <a:xfrm>
            <a:off x="4425696" y="1645920"/>
            <a:ext cx="3328416" cy="2011680"/>
          </a:xfrm>
          <a:prstGeom prst="roundRect">
            <a:avLst/>
          </a:prstGeom>
          <a:solidFill>
            <a:srgbClr val="FFFFFF"/>
          </a:solidFill>
          <a:ln w="1905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737360"/>
            <a:ext cx="3054096" cy="1828800"/>
          </a:xfrm>
          <a:prstGeom prst="rect">
            <a:avLst/>
          </a:prstGeom>
          <a:noFill/>
        </p:spPr>
        <p:txBody>
          <a:bodyPr wrap="square">
            <a:spAutoFit/>
          </a:bodyPr>
          <a:lstStyle/>
          <a:p>
            <a:pPr>
              <a:defRPr sz="1400" b="1">
                <a:solidFill>
                  <a:srgbClr val="EC4899"/>
                </a:solidFill>
              </a:defRPr>
            </a:pPr>
            <a:r>
              <a:t>2. Flashcard 3D</a:t>
            </a:r>
          </a:p>
          <a:p>
            <a:pPr>
              <a:defRPr sz="1000">
                <a:solidFill>
                  <a:srgbClr val="0F172A"/>
                </a:solidFill>
              </a:defRPr>
            </a:pPr>
            <a:r>
              <a:t>• Kartu bolak-balik interaktif dengan animasi 3D flip yang halus.</a:t>
            </a:r>
            <a:br/>
            <a:r>
              <a:t>• Melatih memori aktif: pertanyaan konsep di depan, penjelasan di belakang.</a:t>
            </a:r>
            <a:br/>
            <a:r>
              <a:t>• Fitur pelacak kartu yang sudah dikuasai (Mastered Cards Counter).</a:t>
            </a:r>
          </a:p>
        </p:txBody>
      </p:sp>
      <p:sp>
        <p:nvSpPr>
          <p:cNvPr id="9" name="Rounded Rectangle 8"/>
          <p:cNvSpPr/>
          <p:nvPr/>
        </p:nvSpPr>
        <p:spPr>
          <a:xfrm>
            <a:off x="8119872" y="1645920"/>
            <a:ext cx="3328416" cy="2011680"/>
          </a:xfrm>
          <a:prstGeom prst="roundRect">
            <a:avLst/>
          </a:prstGeom>
          <a:solidFill>
            <a:srgbClr val="FFFFFF"/>
          </a:solidFill>
          <a:ln w="19050">
            <a:solidFill>
              <a:srgbClr val="581C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2" y="1737360"/>
            <a:ext cx="3054096" cy="1828800"/>
          </a:xfrm>
          <a:prstGeom prst="rect">
            <a:avLst/>
          </a:prstGeom>
          <a:noFill/>
        </p:spPr>
        <p:txBody>
          <a:bodyPr wrap="square">
            <a:spAutoFit/>
          </a:bodyPr>
          <a:lstStyle/>
          <a:p>
            <a:pPr>
              <a:defRPr sz="1400" b="1">
                <a:solidFill>
                  <a:srgbClr val="581C87"/>
                </a:solidFill>
              </a:defRPr>
            </a:pPr>
            <a:r>
              <a:t>3. Rangkuman Catatan</a:t>
            </a:r>
          </a:p>
          <a:p>
            <a:pPr>
              <a:defRPr sz="1000">
                <a:solidFill>
                  <a:srgbClr val="0F172A"/>
                </a:solidFill>
              </a:defRPr>
            </a:pPr>
            <a:r>
              <a:t>• Executive Summary materi perkuliahan untuk pemahaman kilat.</a:t>
            </a:r>
            <a:br/>
            <a:r>
              <a:t>• Poin-poin kunci yang wajib dihafal sebelum ujian.</a:t>
            </a:r>
            <a:br/>
            <a:r>
              <a:t>• Tabel matriks referensi cepat (Cheat Sheet) &amp; tombol satu-klik Salin Teks.</a:t>
            </a:r>
          </a:p>
        </p:txBody>
      </p:sp>
      <p:pic>
        <p:nvPicPr>
          <p:cNvPr id="11" name="Picture 10" descr="ai_generator_no_video.png"/>
          <p:cNvPicPr>
            <a:picLocks noChangeAspect="1"/>
          </p:cNvPicPr>
          <p:nvPr/>
        </p:nvPicPr>
        <p:blipFill>
          <a:blip r:embed="rId2"/>
          <a:stretch>
            <a:fillRect/>
          </a:stretch>
        </p:blipFill>
        <p:spPr>
          <a:xfrm>
            <a:off x="731520" y="3840480"/>
            <a:ext cx="10728655" cy="670540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47472"/>
          </a:xfrm>
          <a:prstGeom prst="roundRect">
            <a:avLst/>
          </a:prstGeom>
          <a:solidFill>
            <a:srgbClr val="F3E8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ASISTEN AKADEMIK 24/7</a:t>
            </a:r>
          </a:p>
        </p:txBody>
      </p:sp>
      <p:sp>
        <p:nvSpPr>
          <p:cNvPr id="4" name="TextBox 3"/>
          <p:cNvSpPr txBox="1"/>
          <p:nvPr/>
        </p:nvSpPr>
        <p:spPr>
          <a:xfrm>
            <a:off x="731520" y="868680"/>
            <a:ext cx="10698480" cy="731520"/>
          </a:xfrm>
          <a:prstGeom prst="rect">
            <a:avLst/>
          </a:prstGeom>
          <a:noFill/>
        </p:spPr>
        <p:txBody>
          <a:bodyPr wrap="square">
            <a:spAutoFit/>
          </a:bodyPr>
          <a:lstStyle/>
          <a:p>
            <a:pPr>
              <a:defRPr sz="2400" b="1">
                <a:solidFill>
                  <a:srgbClr val="0F172A"/>
                </a:solidFill>
              </a:defRPr>
            </a:pPr>
            <a:r>
              <a:t>Demo Fitur 4: SmartStudy AI Tutor &amp; Floating Chatbot</a:t>
            </a:r>
          </a:p>
        </p:txBody>
      </p:sp>
      <p:sp>
        <p:nvSpPr>
          <p:cNvPr id="5" name="Rounded Rectangle 4"/>
          <p:cNvSpPr/>
          <p:nvPr/>
        </p:nvSpPr>
        <p:spPr>
          <a:xfrm>
            <a:off x="731520" y="1645920"/>
            <a:ext cx="512064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114800"/>
          </a:xfrm>
          <a:prstGeom prst="rect">
            <a:avLst/>
          </a:prstGeom>
          <a:noFill/>
        </p:spPr>
        <p:txBody>
          <a:bodyPr wrap="square">
            <a:spAutoFit/>
          </a:bodyPr>
          <a:lstStyle/>
          <a:p>
            <a:pPr>
              <a:defRPr sz="1600" b="1">
                <a:solidFill>
                  <a:srgbClr val="581C87"/>
                </a:solidFill>
              </a:defRPr>
            </a:pPr>
            <a:r>
              <a:t>Kemampuan AI Tutor Akademik:</a:t>
            </a:r>
          </a:p>
          <a:p>
            <a:br/>
            <a:pPr>
              <a:defRPr sz="1100">
                <a:solidFill>
                  <a:srgbClr val="0F172A"/>
                </a:solidFill>
              </a:defRPr>
            </a:pPr>
            <a:r>
              <a:t>💬 General Q&amp;A Akademik Bebas:</a:t>
            </a:r>
            <a:br/>
            <a:r>
              <a:t>Mampu menjawab pertanyaan apa pun layaknya ChatGPT/Gemini (Keamanan Siber, Algoritma, Big O, Matematika, dll).</a:t>
            </a:r>
          </a:p>
          <a:p>
            <a:br/>
            <a:pPr>
              <a:defRPr sz="1100">
                <a:solidFill>
                  <a:srgbClr val="0F172A"/>
                </a:solidFill>
              </a:defRPr>
            </a:pPr>
            <a:r>
              <a:t>💻 Penjelasan Koding Baris demi Baris:</a:t>
            </a:r>
            <a:br/>
            <a:r>
              <a:t>Membedah sintaks kode (Java, Python, C++) per baris secara mendalam lengkap dengan konsep OOP.</a:t>
            </a:r>
          </a:p>
          <a:p>
            <a:br/>
            <a:pPr>
              <a:defRPr sz="1100">
                <a:solidFill>
                  <a:srgbClr val="0F172A"/>
                </a:solidFill>
              </a:defRPr>
            </a:pPr>
            <a:r>
              <a:t>📅 Integrasi Database Mahasiswa:</a:t>
            </a:r>
            <a:br/>
            <a:r>
              <a:t>AI mengetahui tugas aktif, deadline terdekat, dan jadwal belajar mahasiswa secara real-time.</a:t>
            </a:r>
          </a:p>
          <a:p>
            <a:br/>
            <a:pPr>
              <a:defRPr sz="1100">
                <a:solidFill>
                  <a:srgbClr val="0F172A"/>
                </a:solidFill>
              </a:defRPr>
            </a:pPr>
            <a:r>
              <a:t>🧠 Multi-Turn Memory Context:</a:t>
            </a:r>
            <a:br/>
            <a:r>
              <a:t>Mampu mengingat percakapan sebelumnya untuk diskusi tanya jawab yang berkesinambungan.</a:t>
            </a:r>
          </a:p>
          <a:p>
            <a:br/>
            <a:pPr>
              <a:defRPr sz="1100">
                <a:solidFill>
                  <a:srgbClr val="0F172A"/>
                </a:solidFill>
              </a:defRPr>
            </a:pPr>
            <a:r>
              <a:t>⚡ Floating Widget Persistent:</a:t>
            </a:r>
            <a:br/>
            <a:r>
              <a:t>Selalu tersedia di pojok kanan bawah seluruh halaman website.</a:t>
            </a:r>
          </a:p>
        </p:txBody>
      </p:sp>
      <p:sp>
        <p:nvSpPr>
          <p:cNvPr id="7" name="Rounded Rectangle 6"/>
          <p:cNvSpPr/>
          <p:nvPr/>
        </p:nvSpPr>
        <p:spPr>
          <a:xfrm>
            <a:off x="6309360" y="1645920"/>
            <a:ext cx="5120640" cy="448056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754880" cy="4114800"/>
          </a:xfrm>
          <a:prstGeom prst="rect">
            <a:avLst/>
          </a:prstGeom>
          <a:noFill/>
        </p:spPr>
        <p:txBody>
          <a:bodyPr wrap="square">
            <a:spAutoFit/>
          </a:bodyPr>
          <a:lstStyle/>
          <a:p>
            <a:pPr>
              <a:defRPr sz="1500" b="1">
                <a:solidFill>
                  <a:srgbClr val="9333EA"/>
                </a:solidFill>
              </a:defRPr>
            </a:pPr>
            <a:r>
              <a:t>Contoh Respon Nyata AI Tutor:</a:t>
            </a:r>
          </a:p>
          <a:p>
            <a:br/>
            <a:pPr>
              <a:defRPr sz="1100">
                <a:solidFill>
                  <a:srgbClr val="0F172A"/>
                </a:solidFill>
              </a:defRPr>
            </a:pPr>
            <a:r>
              <a:t>❓ Pertanyaan Mahasiswa:</a:t>
            </a:r>
            <a:br/>
            <a:r>
              <a:t>"Apa perbedaan mendasar antara klasifikasi Binary vs Multiclass dalam deteksi ancaman keamanan siber?"</a:t>
            </a:r>
            <a:br/>
            <a:br/>
            <a:r>
              <a:t>🤖 Jawaban AI Tutor (Gemini Powered):</a:t>
            </a:r>
            <a:br/>
            <a:r>
              <a:t>• Binary Classification: 2 kelas (Normal vs Serangan), fokus menjawab 'Apakah ini serangan?'. Digunakan untuk filter cepat IDS dan anti-spam.</a:t>
            </a:r>
            <a:br/>
            <a:r>
              <a:t>• Multiclass Classification: &gt;2 kelas (DDoS, Malware, SQLi, Phishing), fokus menjawab 'Serangan jenis apa ini?'. Digunakan untuk analisis mendalam SOC.</a:t>
            </a:r>
            <a:br/>
            <a:r>
              <a:t>• Analisis Kontekstual: Mengaitkan jawaban dengan tugas aktif mahasiswa (AI Cybersecurity Report).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47472"/>
          </a:xfrm>
          <a:prstGeom prst="roundRect">
            <a:avLst/>
          </a:prstGeom>
          <a:solidFill>
            <a:srgbClr val="F3E8FF"/>
          </a:solidFill>
          <a:ln>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PENUTUP &amp; ROADMAP</a:t>
            </a:r>
          </a:p>
        </p:txBody>
      </p:sp>
      <p:sp>
        <p:nvSpPr>
          <p:cNvPr id="4" name="TextBox 3"/>
          <p:cNvSpPr txBox="1"/>
          <p:nvPr/>
        </p:nvSpPr>
        <p:spPr>
          <a:xfrm>
            <a:off x="731520" y="868680"/>
            <a:ext cx="10698480" cy="731520"/>
          </a:xfrm>
          <a:prstGeom prst="rect">
            <a:avLst/>
          </a:prstGeom>
          <a:noFill/>
        </p:spPr>
        <p:txBody>
          <a:bodyPr wrap="square">
            <a:spAutoFit/>
          </a:bodyPr>
          <a:lstStyle/>
          <a:p>
            <a:pPr>
              <a:defRPr sz="2400" b="1">
                <a:solidFill>
                  <a:srgbClr val="0F172A"/>
                </a:solidFill>
              </a:defRPr>
            </a:pPr>
            <a:r>
              <a:t>Kesimpulan, Dampak &amp; Rencana Masa Depan</a:t>
            </a:r>
          </a:p>
        </p:txBody>
      </p:sp>
      <p:sp>
        <p:nvSpPr>
          <p:cNvPr id="5" name="Rounded Rectangle 4"/>
          <p:cNvSpPr/>
          <p:nvPr/>
        </p:nvSpPr>
        <p:spPr>
          <a:xfrm>
            <a:off x="731520" y="1645920"/>
            <a:ext cx="5120640" cy="365760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291840"/>
          </a:xfrm>
          <a:prstGeom prst="rect">
            <a:avLst/>
          </a:prstGeom>
          <a:noFill/>
        </p:spPr>
        <p:txBody>
          <a:bodyPr wrap="square">
            <a:spAutoFit/>
          </a:bodyPr>
          <a:lstStyle/>
          <a:p>
            <a:pPr>
              <a:defRPr sz="1600" b="1">
                <a:solidFill>
                  <a:srgbClr val="10B981"/>
                </a:solidFill>
              </a:defRPr>
            </a:pPr>
            <a:r>
              <a:t>Dampak Positif Nyata:</a:t>
            </a:r>
          </a:p>
          <a:p>
            <a:br/>
            <a:pPr>
              <a:defRPr sz="1200">
                <a:solidFill>
                  <a:srgbClr val="0F172A"/>
                </a:solidFill>
              </a:defRPr>
            </a:pPr>
            <a:r>
              <a:t>✅ Efisiensi Waktu: Mengurangi waktu penyusunan materi belajar hingga 70%.</a:t>
            </a:r>
          </a:p>
          <a:p>
            <a:br/>
            <a:pPr>
              <a:defRPr sz="1200">
                <a:solidFill>
                  <a:srgbClr val="0F172A"/>
                </a:solidFill>
              </a:defRPr>
            </a:pPr>
            <a:r>
              <a:t>✅ Peningkatan Retensi Belajar: Mengubah passive reading menjadi active testing dengan kuis dan flashcard 3D.</a:t>
            </a:r>
          </a:p>
          <a:p>
            <a:br/>
            <a:pPr>
              <a:defRPr sz="1200">
                <a:solidFill>
                  <a:srgbClr val="0F172A"/>
                </a:solidFill>
              </a:defRPr>
            </a:pPr>
            <a:r>
              <a:t>✅ Bebas Prokrastinasi: Penjadwalan adaptif membagi beban belajar secara merata setiap malam.</a:t>
            </a:r>
          </a:p>
          <a:p>
            <a:br/>
            <a:pPr>
              <a:defRPr sz="1200">
                <a:solidFill>
                  <a:srgbClr val="0F172A"/>
                </a:solidFill>
              </a:defRPr>
            </a:pPr>
            <a:r>
              <a:t>✅ Bantuan Akademik Terbuka: Tutor AI 24/7 selalu siap menjelaskan soal tanpa batas waktu.</a:t>
            </a:r>
          </a:p>
        </p:txBody>
      </p:sp>
      <p:sp>
        <p:nvSpPr>
          <p:cNvPr id="7" name="Rounded Rectangle 6"/>
          <p:cNvSpPr/>
          <p:nvPr/>
        </p:nvSpPr>
        <p:spPr>
          <a:xfrm>
            <a:off x="6309360" y="1645920"/>
            <a:ext cx="5120640" cy="365760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754880" cy="3291840"/>
          </a:xfrm>
          <a:prstGeom prst="rect">
            <a:avLst/>
          </a:prstGeom>
          <a:noFill/>
        </p:spPr>
        <p:txBody>
          <a:bodyPr wrap="square">
            <a:spAutoFit/>
          </a:bodyPr>
          <a:lstStyle/>
          <a:p>
            <a:pPr>
              <a:defRPr sz="1600" b="1">
                <a:solidFill>
                  <a:srgbClr val="9333EA"/>
                </a:solidFill>
              </a:defRPr>
            </a:pPr>
            <a:r>
              <a:t>Roadmap Pengembangan Masa Depan:</a:t>
            </a:r>
          </a:p>
          <a:p>
            <a:br/>
            <a:pPr>
              <a:defRPr sz="1200">
                <a:solidFill>
                  <a:srgbClr val="0F172A"/>
                </a:solidFill>
              </a:defRPr>
            </a:pPr>
            <a:r>
              <a:t>🔄 Integrasi Kalender Eksternal: Sinkronisasi otomatis ke Google Calendar dan Apple Calendar.</a:t>
            </a:r>
          </a:p>
          <a:p>
            <a:br/>
            <a:pPr>
              <a:defRPr sz="1200">
                <a:solidFill>
                  <a:srgbClr val="0F172A"/>
                </a:solidFill>
              </a:defRPr>
            </a:pPr>
            <a:r>
              <a:t>👥 Study Group Sharing: Berbagi paket kuis dan flashcard antarmahasiswa satu kelas.</a:t>
            </a:r>
          </a:p>
          <a:p>
            <a:br/>
            <a:pPr>
              <a:defRPr sz="1200">
                <a:solidFill>
                  <a:srgbClr val="0F172A"/>
                </a:solidFill>
              </a:defRPr>
            </a:pPr>
            <a:r>
              <a:t>📱 Aplikasi Mobile: Versi PWA / Flutter dengan push notification pengingat jadwal belajar.</a:t>
            </a:r>
          </a:p>
          <a:p>
            <a:br/>
            <a:pPr>
              <a:defRPr sz="1200">
                <a:solidFill>
                  <a:srgbClr val="0F172A"/>
                </a:solidFill>
              </a:defRPr>
            </a:pPr>
            <a:r>
              <a:t>🎙️ Voice Mode AI Tutor: Interaksi suara langsung dengan AI Tutor layaknya bercakap-cakap dengan asisten pribadi.</a:t>
            </a:r>
          </a:p>
        </p:txBody>
      </p:sp>
      <p:sp>
        <p:nvSpPr>
          <p:cNvPr id="9" name="Rounded Rectangle 8"/>
          <p:cNvSpPr/>
          <p:nvPr/>
        </p:nvSpPr>
        <p:spPr>
          <a:xfrm>
            <a:off x="731520" y="5486400"/>
            <a:ext cx="10698480" cy="822960"/>
          </a:xfrm>
          <a:prstGeom prst="roundRect">
            <a:avLst/>
          </a:prstGeom>
          <a:solidFill>
            <a:srgbClr val="FDF2F8"/>
          </a:solidFill>
          <a:ln>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77840"/>
            <a:ext cx="10332720" cy="640080"/>
          </a:xfrm>
          <a:prstGeom prst="rect">
            <a:avLst/>
          </a:prstGeom>
          <a:noFill/>
        </p:spPr>
        <p:txBody>
          <a:bodyPr wrap="none">
            <a:spAutoFit/>
          </a:bodyPr>
          <a:lstStyle/>
          <a:p>
            <a:pPr algn="ctr">
              <a:defRPr sz="1300" b="1">
                <a:solidFill>
                  <a:srgbClr val="581C87"/>
                </a:solidFill>
              </a:defRPr>
            </a:pPr>
            <a:r>
              <a:t>🔗 GitHub Repository: https://github.com/atilafazrul/web-study.git  •  Terima Kasih / Sesi Tanya Jawab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