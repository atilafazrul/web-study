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penguji serta rekan-rekan sekalian. Hari ini saya mempresentasikan SmartStudy, sebuah aplikasi web berbasis AI yang dirancang untuk mempermudah manajemen waktu belajar dan meningkatkan efektivitas pemahaman materi perkuliahan.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 3 masalah utama yang ingin kami selesaikan: Pertama, mahasiswa bingung memprioritaskan tugas saat deadline menumpuk. Kedua, slide kuliah tebal hanya dibaca pasif tanpa latihan kuis. Ketiga, mahasiswa tidak memiliki jadwal belajar yang konsisten dan kekurangan pendamping belajar mandiri.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SmartStudy menggabungkan 4 kapabilitas dalam satu platform web: penjadwalan otomatis berbasis prioritas, konverter slide kuliah menjadi kuis dan flashcard, tutor AI yang siap membantu tanya jawab 24 jam, serta fitur fokus belajar berbasis Pomodoro.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ini sangat penting: Kami membagi peran AI secara presisi menjadi 3 tingkatan. ChatGPT digunakan untuk brainstorming ide dan perancangan konsep awal. Google Antigravity digunakan sebagai AI Coding Assistant untuk membangun seluruh website, baik backend Laravel maupun frontend Tailwind. Sedangkan Google Gemini API diintegrasikan langsung ke dalam website sebagai engine cerdas untuk menjalankan chatbot tutor dan membuat materi kuis dari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kerja SmartStudy sangat sederhana dan mudah dipahami: Mahasiswa menginput tugas atau slide, AI menganalisis isi materi, sistem menghitung prioritas dan jadwal, lalu mahasiswa langsung dapat belajar menggunakan kuis, flashcard, dan tutor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adalah demo nyata Dashboard SmartStudy. Tampilannya bersih dan teratur. Mahasiswa dapat melihat beban tugas mereka, progres belajar, serta jadwal belajar mingguan yang otomatis disesuaikan.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 fitur unggulan paling inovatif: PPT to Study AI yang mengubah slide menjadi kuis, flashcard 3D, dan rangkuman ujian. Serta AI Tutor yang bisa ditanya apa saja layaknya ChatGPT biasa, mampu membedah koding baris demi baris, dan selalu mengingat jadwal tugas mahasiswa.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penutup, SmartStudy hadir sebagai solusi nyata bagi mahasiswa untuk mengoptimalkan waktu dan cara belajarnya. Terima kasih atas perhatian Bapak/Ibu dosen dan rekan-rekan sekalian. Kami membuka sesi tanya jawab.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103120" y="1645920"/>
            <a:ext cx="3474720" cy="384048"/>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9333EA"/>
                </a:solidFill>
              </a:defRPr>
            </a:pPr>
            <a:r>
              <a:t>✦ AI ACADEMIC STUDY PLANNER</a:t>
            </a:r>
          </a:p>
        </p:txBody>
      </p:sp>
      <p:sp>
        <p:nvSpPr>
          <p:cNvPr id="5" name="TextBox 4"/>
          <p:cNvSpPr txBox="1"/>
          <p:nvPr/>
        </p:nvSpPr>
        <p:spPr>
          <a:xfrm>
            <a:off x="2103120" y="2194560"/>
            <a:ext cx="7955279" cy="1280160"/>
          </a:xfrm>
          <a:prstGeom prst="rect">
            <a:avLst/>
          </a:prstGeom>
          <a:noFill/>
        </p:spPr>
        <p:txBody>
          <a:bodyPr wrap="none">
            <a:spAutoFit/>
          </a:bodyPr>
          <a:lstStyle/>
          <a:p>
            <a:pPr>
              <a:defRPr sz="5000" b="1">
                <a:solidFill>
                  <a:srgbClr val="4C1D95"/>
                </a:solidFill>
              </a:defRPr>
            </a:pPr>
            <a:r>
              <a:t>SmartStudy</a:t>
            </a:r>
          </a:p>
          <a:p>
            <a:pPr>
              <a:defRPr sz="2000" b="1">
                <a:solidFill>
                  <a:srgbClr val="EC4899"/>
                </a:solidFill>
              </a:defRPr>
            </a:pPr>
            <a:r>
              <a:t>Plan Smarter. Study Better. 🎓</a:t>
            </a:r>
          </a:p>
        </p:txBody>
      </p:sp>
      <p:sp>
        <p:nvSpPr>
          <p:cNvPr id="6" name="TextBox 5"/>
          <p:cNvSpPr txBox="1"/>
          <p:nvPr/>
        </p:nvSpPr>
        <p:spPr>
          <a:xfrm>
            <a:off x="2103120" y="3657600"/>
            <a:ext cx="7955279" cy="914400"/>
          </a:xfrm>
          <a:prstGeom prst="rect">
            <a:avLst/>
          </a:prstGeom>
          <a:noFill/>
        </p:spPr>
        <p:txBody>
          <a:bodyPr wrap="square">
            <a:spAutoFit/>
          </a:bodyPr>
          <a:lstStyle/>
          <a:p>
            <a:pPr>
              <a:defRPr sz="1400">
                <a:solidFill>
                  <a:srgbClr val="64748B"/>
                </a:solidFill>
              </a:defRPr>
            </a:pPr>
            <a:r>
              <a:t>Platform Web Cerdas untuk Mengatur Jadwal Belajar Mahasiswa</a:t>
            </a:r>
            <a:br/>
            <a:r>
              <a:t>dan Mengonversi Slide Materi Kuliah Menjadi Instrumen Belajar Interaktif.</a:t>
            </a:r>
          </a:p>
        </p:txBody>
      </p:sp>
      <p:sp>
        <p:nvSpPr>
          <p:cNvPr id="7" name="TextBox 6"/>
          <p:cNvSpPr txBox="1"/>
          <p:nvPr/>
        </p:nvSpPr>
        <p:spPr>
          <a:xfrm>
            <a:off x="2103120" y="4663440"/>
            <a:ext cx="7955279" cy="548640"/>
          </a:xfrm>
          <a:prstGeom prst="rect">
            <a:avLst/>
          </a:prstGeom>
          <a:noFill/>
        </p:spPr>
        <p:txBody>
          <a:bodyPr wrap="none">
            <a:spAutoFit/>
          </a:bodyPr>
          <a:lstStyle/>
          <a:p>
            <a:pPr>
              <a:defRPr sz="1200" b="1">
                <a:solidFill>
                  <a:srgbClr val="0F172A"/>
                </a:solidFill>
              </a:defRPr>
            </a:pPr>
            <a:r>
              <a:t>Oleh: Atila Fazrul  •  Proyek: Web Development &amp; Applied AI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LATAR BELAKANG</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Latar Belakang: Masalah yang Dihadapi Mahasiswa</a:t>
            </a:r>
          </a:p>
        </p:txBody>
      </p:sp>
      <p:sp>
        <p:nvSpPr>
          <p:cNvPr id="5" name="Rounded Rectangle 4"/>
          <p:cNvSpPr/>
          <p:nvPr/>
        </p:nvSpPr>
        <p:spPr>
          <a:xfrm>
            <a:off x="731520"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874519"/>
            <a:ext cx="2871216" cy="548640"/>
          </a:xfrm>
          <a:prstGeom prst="roundRect">
            <a:avLst/>
          </a:prstGeom>
          <a:solidFill>
            <a:srgbClr val="FFFFFF"/>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C4899"/>
                </a:solidFill>
              </a:defRPr>
            </a:pPr>
            <a:r>
              <a:t>1. Deadline Menumpuk</a:t>
            </a:r>
          </a:p>
        </p:txBody>
      </p:sp>
      <p:sp>
        <p:nvSpPr>
          <p:cNvPr id="7" name="TextBox 6"/>
          <p:cNvSpPr txBox="1"/>
          <p:nvPr/>
        </p:nvSpPr>
        <p:spPr>
          <a:xfrm>
            <a:off x="1005840" y="2651760"/>
            <a:ext cx="2779776" cy="3108960"/>
          </a:xfrm>
          <a:prstGeom prst="rect">
            <a:avLst/>
          </a:prstGeom>
          <a:noFill/>
        </p:spPr>
        <p:txBody>
          <a:bodyPr wrap="square">
            <a:spAutoFit/>
          </a:bodyPr>
          <a:lstStyle/>
          <a:p>
            <a:pPr>
              <a:defRPr sz="1300">
                <a:solidFill>
                  <a:srgbClr val="0F172A"/>
                </a:solidFill>
              </a:defRPr>
            </a:pPr>
            <a:r>
              <a:t>Banyaknya tugas kuliah dengan batas waktu bersamaan membuat mahasiswa bingung menentukan mana yang harus dikerjakan duluan, sehingga memicu prokrastinasi.</a:t>
            </a:r>
          </a:p>
        </p:txBody>
      </p:sp>
      <p:sp>
        <p:nvSpPr>
          <p:cNvPr id="8" name="Rounded Rectangle 7"/>
          <p:cNvSpPr/>
          <p:nvPr/>
        </p:nvSpPr>
        <p:spPr>
          <a:xfrm>
            <a:off x="4425696"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54296" y="1874519"/>
            <a:ext cx="2871216" cy="54864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9333EA"/>
                </a:solidFill>
              </a:defRPr>
            </a:pPr>
            <a:r>
              <a:t>2. Slide Kuliah Pasif</a:t>
            </a:r>
          </a:p>
        </p:txBody>
      </p:sp>
      <p:sp>
        <p:nvSpPr>
          <p:cNvPr id="10" name="TextBox 9"/>
          <p:cNvSpPr txBox="1"/>
          <p:nvPr/>
        </p:nvSpPr>
        <p:spPr>
          <a:xfrm>
            <a:off x="4700016" y="2651760"/>
            <a:ext cx="2779776" cy="3108960"/>
          </a:xfrm>
          <a:prstGeom prst="rect">
            <a:avLst/>
          </a:prstGeom>
          <a:noFill/>
        </p:spPr>
        <p:txBody>
          <a:bodyPr wrap="square">
            <a:spAutoFit/>
          </a:bodyPr>
          <a:lstStyle/>
          <a:p>
            <a:pPr>
              <a:defRPr sz="1300">
                <a:solidFill>
                  <a:srgbClr val="0F172A"/>
                </a:solidFill>
              </a:defRPr>
            </a:pPr>
            <a:r>
              <a:t>Materi perkuliahan berupa puluhan slide PPT/PDF hanya dibaca secara pasif sebelum ujian, padahal metode kuis dan active recall jauh lebih efektif.</a:t>
            </a:r>
          </a:p>
        </p:txBody>
      </p:sp>
      <p:sp>
        <p:nvSpPr>
          <p:cNvPr id="11" name="Rounded Rectangle 10"/>
          <p:cNvSpPr/>
          <p:nvPr/>
        </p:nvSpPr>
        <p:spPr>
          <a:xfrm>
            <a:off x="8119872" y="1645920"/>
            <a:ext cx="3328416"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48472" y="1874519"/>
            <a:ext cx="2871216" cy="54864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B82F6"/>
                </a:solidFill>
              </a:defRPr>
            </a:pPr>
            <a:r>
              <a:t>3. Kurang Waktu &amp; Tutor</a:t>
            </a:r>
          </a:p>
        </p:txBody>
      </p:sp>
      <p:sp>
        <p:nvSpPr>
          <p:cNvPr id="13" name="TextBox 12"/>
          <p:cNvSpPr txBox="1"/>
          <p:nvPr/>
        </p:nvSpPr>
        <p:spPr>
          <a:xfrm>
            <a:off x="8394192" y="2651760"/>
            <a:ext cx="2779776" cy="3108960"/>
          </a:xfrm>
          <a:prstGeom prst="rect">
            <a:avLst/>
          </a:prstGeom>
          <a:noFill/>
        </p:spPr>
        <p:txBody>
          <a:bodyPr wrap="square">
            <a:spAutoFit/>
          </a:bodyPr>
          <a:lstStyle/>
          <a:p>
            <a:pPr>
              <a:defRPr sz="1300">
                <a:solidFill>
                  <a:srgbClr val="0F172A"/>
                </a:solidFill>
              </a:defRPr>
            </a:pPr>
            <a:r>
              <a:t>Sulit membagi waktu luang harian ke jadwal belajar yang teratur, serta tidak adanya tutor pendamping 24 jam saat belajar mandiri di malam hari.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KONSEP APLIKASI</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Konsep Solusi: Platform Belajar Cerdas All-in-One</a:t>
            </a:r>
          </a:p>
        </p:txBody>
      </p:sp>
      <p:sp>
        <p:nvSpPr>
          <p:cNvPr id="5" name="Rounded Rectangle 4"/>
          <p:cNvSpPr/>
          <p:nvPr/>
        </p:nvSpPr>
        <p:spPr>
          <a:xfrm>
            <a:off x="731520" y="1645920"/>
            <a:ext cx="52120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74520"/>
            <a:ext cx="109728" cy="15544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874520"/>
            <a:ext cx="4572000" cy="1554480"/>
          </a:xfrm>
          <a:prstGeom prst="rect">
            <a:avLst/>
          </a:prstGeom>
          <a:noFill/>
        </p:spPr>
        <p:txBody>
          <a:bodyPr wrap="square">
            <a:spAutoFit/>
          </a:bodyPr>
          <a:lstStyle/>
          <a:p>
            <a:pPr>
              <a:defRPr sz="1500" b="1">
                <a:solidFill>
                  <a:srgbClr val="9333EA"/>
                </a:solidFill>
              </a:defRPr>
            </a:pPr>
            <a:r>
              <a:t>📅 Penjadwalan Belajar Otomatis</a:t>
            </a:r>
          </a:p>
          <a:p>
            <a:pPr>
              <a:defRPr sz="1200">
                <a:solidFill>
                  <a:srgbClr val="0F172A"/>
                </a:solidFill>
              </a:defRPr>
            </a:pPr>
            <a:r>
              <a:t>Sistem secara cerdas menganalisis batas waktu tugas, menghitung urgensi prioritas (High, Medium, Low), dan menyusun jadwal belajar mingguan secara proporsional.</a:t>
            </a:r>
          </a:p>
        </p:txBody>
      </p:sp>
      <p:sp>
        <p:nvSpPr>
          <p:cNvPr id="8" name="Rounded Rectangle 7"/>
          <p:cNvSpPr/>
          <p:nvPr/>
        </p:nvSpPr>
        <p:spPr>
          <a:xfrm>
            <a:off x="6217920" y="1645920"/>
            <a:ext cx="52120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0" y="1874520"/>
            <a:ext cx="109728" cy="15544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874520"/>
            <a:ext cx="4572000" cy="1554480"/>
          </a:xfrm>
          <a:prstGeom prst="rect">
            <a:avLst/>
          </a:prstGeom>
          <a:noFill/>
        </p:spPr>
        <p:txBody>
          <a:bodyPr wrap="square">
            <a:spAutoFit/>
          </a:bodyPr>
          <a:lstStyle/>
          <a:p>
            <a:pPr>
              <a:defRPr sz="1500" b="1">
                <a:solidFill>
                  <a:srgbClr val="EC4899"/>
                </a:solidFill>
              </a:defRPr>
            </a:pPr>
            <a:r>
              <a:t>📚 PPT to Study AI</a:t>
            </a:r>
          </a:p>
          <a:p>
            <a:pPr>
              <a:defRPr sz="1200">
                <a:solidFill>
                  <a:srgbClr val="0F172A"/>
                </a:solidFill>
              </a:defRPr>
            </a:pPr>
            <a:r>
              <a:t>Mengonversi slide materi kuliah (.pptx / .pdf) secara otomatis menjadi 3 instrumen belajar aktif: Kuis Interaktif, Flashcard 3D, dan Rangkuman Catatan ujian.</a:t>
            </a:r>
          </a:p>
        </p:txBody>
      </p:sp>
      <p:sp>
        <p:nvSpPr>
          <p:cNvPr id="11" name="Rounded Rectangle 10"/>
          <p:cNvSpPr/>
          <p:nvPr/>
        </p:nvSpPr>
        <p:spPr>
          <a:xfrm>
            <a:off x="731520" y="3931920"/>
            <a:ext cx="52120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4160520"/>
            <a:ext cx="109728" cy="15544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160520"/>
            <a:ext cx="4572000" cy="1554480"/>
          </a:xfrm>
          <a:prstGeom prst="rect">
            <a:avLst/>
          </a:prstGeom>
          <a:noFill/>
        </p:spPr>
        <p:txBody>
          <a:bodyPr wrap="square">
            <a:spAutoFit/>
          </a:bodyPr>
          <a:lstStyle/>
          <a:p>
            <a:pPr>
              <a:defRPr sz="1500" b="1">
                <a:solidFill>
                  <a:srgbClr val="3B82F6"/>
                </a:solidFill>
              </a:defRPr>
            </a:pPr>
            <a:r>
              <a:t>🤖 24/7 Academic AI Tutor</a:t>
            </a:r>
          </a:p>
          <a:p>
            <a:pPr>
              <a:defRPr sz="1200">
                <a:solidFill>
                  <a:srgbClr val="0F172A"/>
                </a:solidFill>
              </a:defRPr>
            </a:pPr>
            <a:r>
              <a:t>Asisten chatbot cerdas yang siap menjawab pertanyaan akademik, menjelaskan konsep teoritis, hingga membedah koding baris demi baris kapan saja.</a:t>
            </a:r>
          </a:p>
        </p:txBody>
      </p:sp>
      <p:sp>
        <p:nvSpPr>
          <p:cNvPr id="14" name="Rounded Rectangle 13"/>
          <p:cNvSpPr/>
          <p:nvPr/>
        </p:nvSpPr>
        <p:spPr>
          <a:xfrm>
            <a:off x="6217920" y="3931920"/>
            <a:ext cx="52120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4160520"/>
            <a:ext cx="109728" cy="1554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160520"/>
            <a:ext cx="4572000" cy="1554480"/>
          </a:xfrm>
          <a:prstGeom prst="rect">
            <a:avLst/>
          </a:prstGeom>
          <a:noFill/>
        </p:spPr>
        <p:txBody>
          <a:bodyPr wrap="square">
            <a:spAutoFit/>
          </a:bodyPr>
          <a:lstStyle/>
          <a:p>
            <a:pPr>
              <a:defRPr sz="1500" b="1">
                <a:solidFill>
                  <a:srgbClr val="10B981"/>
                </a:solidFill>
              </a:defRPr>
            </a:pPr>
            <a:r>
              <a:t>🎯 Gamifikasi &amp; Fokus Belajar</a:t>
            </a:r>
          </a:p>
          <a:p>
            <a:pPr>
              <a:defRPr sz="1200">
                <a:solidFill>
                  <a:srgbClr val="0F172A"/>
                </a:solidFill>
              </a:defRPr>
            </a:pPr>
            <a:r>
              <a:t>Pelacak konsistensi streak harian, maskot penyemangat interaktif, dan Pomodoro Timer dengan generator suara hujan (ambient audio) untuk menjaga fokus.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AI TOOLS &amp; PERANNYA</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Kolaborasi 3 AI Tools Utama dalam Pembuatan SmartStudy</a:t>
            </a:r>
          </a:p>
        </p:txBody>
      </p:sp>
      <p:sp>
        <p:nvSpPr>
          <p:cNvPr id="5" name="Rounded Rectangle 4"/>
          <p:cNvSpPr/>
          <p:nvPr/>
        </p:nvSpPr>
        <p:spPr>
          <a:xfrm>
            <a:off x="731520" y="1645920"/>
            <a:ext cx="3328416" cy="44805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2962656" cy="7315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0B981"/>
                </a:solidFill>
              </a:defRPr>
            </a:pPr>
            <a:r>
              <a:t>ChatGPT</a:t>
            </a:r>
          </a:p>
          <a:p>
            <a:pPr algn="ctr">
              <a:defRPr sz="900" b="1">
                <a:solidFill>
                  <a:srgbClr val="0F172A"/>
                </a:solidFill>
              </a:defRPr>
            </a:pPr>
            <a:r>
              <a:t>Peran: Brainstorming Ide &amp; Konsep</a:t>
            </a:r>
          </a:p>
        </p:txBody>
      </p:sp>
      <p:sp>
        <p:nvSpPr>
          <p:cNvPr id="7" name="TextBox 6"/>
          <p:cNvSpPr txBox="1"/>
          <p:nvPr/>
        </p:nvSpPr>
        <p:spPr>
          <a:xfrm>
            <a:off x="960120" y="2697480"/>
            <a:ext cx="2871216" cy="3200400"/>
          </a:xfrm>
          <a:prstGeom prst="rect">
            <a:avLst/>
          </a:prstGeom>
          <a:noFill/>
        </p:spPr>
        <p:txBody>
          <a:bodyPr wrap="square">
            <a:spAutoFit/>
          </a:bodyPr>
          <a:lstStyle/>
          <a:p>
            <a:pPr>
              <a:defRPr sz="1200">
                <a:solidFill>
                  <a:srgbClr val="0F172A"/>
                </a:solidFill>
              </a:defRPr>
            </a:pPr>
            <a:r>
              <a:t>Digunakan pada tahap awal riset &amp; perancangan:</a:t>
            </a:r>
            <a:br/>
            <a:br/>
            <a:r>
              <a:t>• Brainstorming ide solusi manajemen waktu belajar bagi mahasiswa.</a:t>
            </a:r>
            <a:br/>
            <a:r>
              <a:t>• Merumuskan konsep 3 mode pembelajaran (Kuis, Flashcard, Rangkuman).</a:t>
            </a:r>
            <a:br/>
            <a:r>
              <a:t>• Membantu penyusunan struktur fitur dan alur kebutuhan pengguna (*user flow*).</a:t>
            </a:r>
          </a:p>
        </p:txBody>
      </p:sp>
      <p:sp>
        <p:nvSpPr>
          <p:cNvPr id="8" name="Rounded Rectangle 7"/>
          <p:cNvSpPr/>
          <p:nvPr/>
        </p:nvSpPr>
        <p:spPr>
          <a:xfrm>
            <a:off x="4425696" y="1645920"/>
            <a:ext cx="3328416" cy="4480560"/>
          </a:xfrm>
          <a:prstGeom prst="roundRect">
            <a:avLst/>
          </a:prstGeom>
          <a:solidFill>
            <a:srgbClr val="FFFFFF"/>
          </a:solidFill>
          <a:ln w="254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08576" y="1828800"/>
            <a:ext cx="2962656" cy="73152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9333EA"/>
                </a:solidFill>
              </a:defRPr>
            </a:pPr>
            <a:r>
              <a:t>Google Antigravity</a:t>
            </a:r>
          </a:p>
          <a:p>
            <a:pPr algn="ctr">
              <a:defRPr sz="900" b="1">
                <a:solidFill>
                  <a:srgbClr val="0F172A"/>
                </a:solidFill>
              </a:defRPr>
            </a:pPr>
            <a:r>
              <a:t>Peran: Pembangunan Website &amp; Coding</a:t>
            </a:r>
          </a:p>
        </p:txBody>
      </p:sp>
      <p:sp>
        <p:nvSpPr>
          <p:cNvPr id="10" name="TextBox 9"/>
          <p:cNvSpPr txBox="1"/>
          <p:nvPr/>
        </p:nvSpPr>
        <p:spPr>
          <a:xfrm>
            <a:off x="4654296" y="2697480"/>
            <a:ext cx="2871216" cy="3200400"/>
          </a:xfrm>
          <a:prstGeom prst="rect">
            <a:avLst/>
          </a:prstGeom>
          <a:noFill/>
        </p:spPr>
        <p:txBody>
          <a:bodyPr wrap="square">
            <a:spAutoFit/>
          </a:bodyPr>
          <a:lstStyle/>
          <a:p>
            <a:pPr>
              <a:defRPr sz="1200">
                <a:solidFill>
                  <a:srgbClr val="0F172A"/>
                </a:solidFill>
              </a:defRPr>
            </a:pPr>
            <a:r>
              <a:t>Digunakan sebagai AI Coding Assistant untuk membangun seluruh aplikasi:</a:t>
            </a:r>
            <a:br/>
            <a:br/>
            <a:r>
              <a:t>• Mengembangkan kode arsitektur backend Laravel 12 &amp; database SQLite.</a:t>
            </a:r>
            <a:br/>
            <a:r>
              <a:t>• Membangun antarmuka frontend reaktif dengan Tailwind CSS &amp; Alpine.js.</a:t>
            </a:r>
            <a:br/>
            <a:r>
              <a:t>• Melakukan debugging cepat, perbaikan bug UI (anti-glitch), dan pengujian test suite.</a:t>
            </a:r>
          </a:p>
        </p:txBody>
      </p:sp>
      <p:sp>
        <p:nvSpPr>
          <p:cNvPr id="11" name="Rounded Rectangle 10"/>
          <p:cNvSpPr/>
          <p:nvPr/>
        </p:nvSpPr>
        <p:spPr>
          <a:xfrm>
            <a:off x="8119872" y="1645920"/>
            <a:ext cx="3328416" cy="448056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2752" y="1828800"/>
            <a:ext cx="2962656" cy="73152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3B82F6"/>
                </a:solidFill>
              </a:defRPr>
            </a:pPr>
            <a:r>
              <a:t>Google Gemini API</a:t>
            </a:r>
          </a:p>
          <a:p>
            <a:pPr algn="ctr">
              <a:defRPr sz="900" b="1">
                <a:solidFill>
                  <a:srgbClr val="0F172A"/>
                </a:solidFill>
              </a:defRPr>
            </a:pPr>
            <a:r>
              <a:t>Peran: Engine AI di Dalam Website</a:t>
            </a:r>
          </a:p>
        </p:txBody>
      </p:sp>
      <p:sp>
        <p:nvSpPr>
          <p:cNvPr id="13" name="TextBox 12"/>
          <p:cNvSpPr txBox="1"/>
          <p:nvPr/>
        </p:nvSpPr>
        <p:spPr>
          <a:xfrm>
            <a:off x="8348472" y="2697480"/>
            <a:ext cx="2871216" cy="3200400"/>
          </a:xfrm>
          <a:prstGeom prst="rect">
            <a:avLst/>
          </a:prstGeom>
          <a:noFill/>
        </p:spPr>
        <p:txBody>
          <a:bodyPr wrap="square">
            <a:spAutoFit/>
          </a:bodyPr>
          <a:lstStyle/>
          <a:p>
            <a:pPr>
              <a:defRPr sz="1200">
                <a:solidFill>
                  <a:srgbClr val="0F172A"/>
                </a:solidFill>
              </a:defRPr>
            </a:pPr>
            <a:r>
              <a:t>Ditanamkan langsung ke dalam sistem website sebagai mesin kecerdasan buatan:</a:t>
            </a:r>
            <a:br/>
            <a:br/>
            <a:r>
              <a:t>• Menjalankan Chatbot AI Tutor untuk menjawab pertanyaan &amp; menjelaskan koding baris demi baris.</a:t>
            </a:r>
            <a:br/>
            <a:r>
              <a:t>• Mengekstrak materi PPT kuliah menjadi kuis evaluasi &amp; flashcard konsep.</a:t>
            </a:r>
            <a:br/>
            <a:r>
              <a:t>• Menganalisis kategori tugas &amp; menghasilkan rekomendasi belajar.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ALUR KERJA</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Alur Sistem: Bagaimana SmartStudy Bekerja</a:t>
            </a:r>
          </a:p>
        </p:txBody>
      </p:sp>
      <p:sp>
        <p:nvSpPr>
          <p:cNvPr id="5" name="Rounded Rectangle 4"/>
          <p:cNvSpPr/>
          <p:nvPr/>
        </p:nvSpPr>
        <p:spPr>
          <a:xfrm>
            <a:off x="731520" y="1828800"/>
            <a:ext cx="24688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08760" y="2103120"/>
            <a:ext cx="914400" cy="9144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1</a:t>
            </a:r>
          </a:p>
        </p:txBody>
      </p:sp>
      <p:sp>
        <p:nvSpPr>
          <p:cNvPr id="7" name="TextBox 6"/>
          <p:cNvSpPr txBox="1"/>
          <p:nvPr/>
        </p:nvSpPr>
        <p:spPr>
          <a:xfrm>
            <a:off x="868680" y="3200400"/>
            <a:ext cx="2194560" cy="548640"/>
          </a:xfrm>
          <a:prstGeom prst="rect">
            <a:avLst/>
          </a:prstGeom>
          <a:noFill/>
        </p:spPr>
        <p:txBody>
          <a:bodyPr wrap="none">
            <a:spAutoFit/>
          </a:bodyPr>
          <a:lstStyle/>
          <a:p>
            <a:pPr algn="ctr">
              <a:defRPr sz="1300" b="1">
                <a:solidFill>
                  <a:srgbClr val="3B82F6"/>
                </a:solidFill>
              </a:defRPr>
            </a:pPr>
            <a:r>
              <a:t>1. Input Data</a:t>
            </a:r>
          </a:p>
        </p:txBody>
      </p:sp>
      <p:sp>
        <p:nvSpPr>
          <p:cNvPr id="8" name="TextBox 7"/>
          <p:cNvSpPr txBox="1"/>
          <p:nvPr/>
        </p:nvSpPr>
        <p:spPr>
          <a:xfrm>
            <a:off x="914400" y="3840480"/>
            <a:ext cx="2103120" cy="1828800"/>
          </a:xfrm>
          <a:prstGeom prst="rect">
            <a:avLst/>
          </a:prstGeom>
          <a:noFill/>
        </p:spPr>
        <p:txBody>
          <a:bodyPr wrap="square">
            <a:spAutoFit/>
          </a:bodyPr>
          <a:lstStyle/>
          <a:p>
            <a:pPr algn="ctr">
              <a:defRPr sz="1200">
                <a:solidFill>
                  <a:srgbClr val="0F172A"/>
                </a:solidFill>
              </a:defRPr>
            </a:pPr>
            <a:r>
              <a:t>Mahasiswa memasukkan judul tugas atau mengunggah slide kuliah (.pptx / .pdf).</a:t>
            </a:r>
          </a:p>
        </p:txBody>
      </p:sp>
      <p:sp>
        <p:nvSpPr>
          <p:cNvPr id="9" name="Rounded Rectangle 8"/>
          <p:cNvSpPr/>
          <p:nvPr/>
        </p:nvSpPr>
        <p:spPr>
          <a:xfrm>
            <a:off x="3474720" y="1828800"/>
            <a:ext cx="24688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51960" y="2103120"/>
            <a:ext cx="914400" cy="914400"/>
          </a:xfrm>
          <a:prstGeom prst="ellipse">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a:t>
            </a:r>
          </a:p>
        </p:txBody>
      </p:sp>
      <p:sp>
        <p:nvSpPr>
          <p:cNvPr id="11" name="TextBox 10"/>
          <p:cNvSpPr txBox="1"/>
          <p:nvPr/>
        </p:nvSpPr>
        <p:spPr>
          <a:xfrm>
            <a:off x="3611880" y="3200400"/>
            <a:ext cx="2194560" cy="548640"/>
          </a:xfrm>
          <a:prstGeom prst="rect">
            <a:avLst/>
          </a:prstGeom>
          <a:noFill/>
        </p:spPr>
        <p:txBody>
          <a:bodyPr wrap="none">
            <a:spAutoFit/>
          </a:bodyPr>
          <a:lstStyle/>
          <a:p>
            <a:pPr algn="ctr">
              <a:defRPr sz="1300" b="1">
                <a:solidFill>
                  <a:srgbClr val="9333EA"/>
                </a:solidFill>
              </a:defRPr>
            </a:pPr>
            <a:r>
              <a:t>2. Analisis AI</a:t>
            </a:r>
          </a:p>
        </p:txBody>
      </p:sp>
      <p:sp>
        <p:nvSpPr>
          <p:cNvPr id="12" name="TextBox 11"/>
          <p:cNvSpPr txBox="1"/>
          <p:nvPr/>
        </p:nvSpPr>
        <p:spPr>
          <a:xfrm>
            <a:off x="3657600" y="3840480"/>
            <a:ext cx="2103120" cy="1828800"/>
          </a:xfrm>
          <a:prstGeom prst="rect">
            <a:avLst/>
          </a:prstGeom>
          <a:noFill/>
        </p:spPr>
        <p:txBody>
          <a:bodyPr wrap="square">
            <a:spAutoFit/>
          </a:bodyPr>
          <a:lstStyle/>
          <a:p>
            <a:pPr algn="ctr">
              <a:defRPr sz="1200">
                <a:solidFill>
                  <a:srgbClr val="0F172A"/>
                </a:solidFill>
              </a:defRPr>
            </a:pPr>
            <a:r>
              <a:t>Google Gemini &amp; modul Python mendeteksi topik subjek dan mengekstrak konsep penting.</a:t>
            </a:r>
          </a:p>
        </p:txBody>
      </p:sp>
      <p:sp>
        <p:nvSpPr>
          <p:cNvPr id="13" name="Rounded Rectangle 12"/>
          <p:cNvSpPr/>
          <p:nvPr/>
        </p:nvSpPr>
        <p:spPr>
          <a:xfrm>
            <a:off x="6217920" y="1828800"/>
            <a:ext cx="24688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95160" y="2103120"/>
            <a:ext cx="914400" cy="91440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3</a:t>
            </a:r>
          </a:p>
        </p:txBody>
      </p:sp>
      <p:sp>
        <p:nvSpPr>
          <p:cNvPr id="15" name="TextBox 14"/>
          <p:cNvSpPr txBox="1"/>
          <p:nvPr/>
        </p:nvSpPr>
        <p:spPr>
          <a:xfrm>
            <a:off x="6355080" y="3200400"/>
            <a:ext cx="2194560" cy="548640"/>
          </a:xfrm>
          <a:prstGeom prst="rect">
            <a:avLst/>
          </a:prstGeom>
          <a:noFill/>
        </p:spPr>
        <p:txBody>
          <a:bodyPr wrap="none">
            <a:spAutoFit/>
          </a:bodyPr>
          <a:lstStyle/>
          <a:p>
            <a:pPr algn="ctr">
              <a:defRPr sz="1300" b="1">
                <a:solidFill>
                  <a:srgbClr val="EC4899"/>
                </a:solidFill>
              </a:defRPr>
            </a:pPr>
            <a:r>
              <a:t>3. Hitung Prioritas</a:t>
            </a:r>
          </a:p>
        </p:txBody>
      </p:sp>
      <p:sp>
        <p:nvSpPr>
          <p:cNvPr id="16" name="TextBox 15"/>
          <p:cNvSpPr txBox="1"/>
          <p:nvPr/>
        </p:nvSpPr>
        <p:spPr>
          <a:xfrm>
            <a:off x="6400800" y="3840480"/>
            <a:ext cx="2103120" cy="1828800"/>
          </a:xfrm>
          <a:prstGeom prst="rect">
            <a:avLst/>
          </a:prstGeom>
          <a:noFill/>
        </p:spPr>
        <p:txBody>
          <a:bodyPr wrap="square">
            <a:spAutoFit/>
          </a:bodyPr>
          <a:lstStyle/>
          <a:p>
            <a:pPr algn="ctr">
              <a:defRPr sz="1200">
                <a:solidFill>
                  <a:srgbClr val="0F172A"/>
                </a:solidFill>
              </a:defRPr>
            </a:pPr>
            <a:r>
              <a:t>Algoritma menghitung persentase urgensi dan menempatkan waktu belajar ke jadwal mingguan.</a:t>
            </a:r>
          </a:p>
        </p:txBody>
      </p:sp>
      <p:sp>
        <p:nvSpPr>
          <p:cNvPr id="17" name="Rounded Rectangle 16"/>
          <p:cNvSpPr/>
          <p:nvPr/>
        </p:nvSpPr>
        <p:spPr>
          <a:xfrm>
            <a:off x="8961120" y="1828800"/>
            <a:ext cx="246888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738360" y="210312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4</a:t>
            </a:r>
          </a:p>
        </p:txBody>
      </p:sp>
      <p:sp>
        <p:nvSpPr>
          <p:cNvPr id="19" name="TextBox 18"/>
          <p:cNvSpPr txBox="1"/>
          <p:nvPr/>
        </p:nvSpPr>
        <p:spPr>
          <a:xfrm>
            <a:off x="9098280" y="3200400"/>
            <a:ext cx="2194560" cy="548640"/>
          </a:xfrm>
          <a:prstGeom prst="rect">
            <a:avLst/>
          </a:prstGeom>
          <a:noFill/>
        </p:spPr>
        <p:txBody>
          <a:bodyPr wrap="none">
            <a:spAutoFit/>
          </a:bodyPr>
          <a:lstStyle/>
          <a:p>
            <a:pPr algn="ctr">
              <a:defRPr sz="1300" b="1">
                <a:solidFill>
                  <a:srgbClr val="10B981"/>
                </a:solidFill>
              </a:defRPr>
            </a:pPr>
            <a:r>
              <a:t>4. Siap Belajar</a:t>
            </a:r>
          </a:p>
        </p:txBody>
      </p:sp>
      <p:sp>
        <p:nvSpPr>
          <p:cNvPr id="20" name="TextBox 19"/>
          <p:cNvSpPr txBox="1"/>
          <p:nvPr/>
        </p:nvSpPr>
        <p:spPr>
          <a:xfrm>
            <a:off x="9144000" y="3840480"/>
            <a:ext cx="2103120" cy="1828800"/>
          </a:xfrm>
          <a:prstGeom prst="rect">
            <a:avLst/>
          </a:prstGeom>
          <a:noFill/>
        </p:spPr>
        <p:txBody>
          <a:bodyPr wrap="square">
            <a:spAutoFit/>
          </a:bodyPr>
          <a:lstStyle/>
          <a:p>
            <a:pPr algn="ctr">
              <a:defRPr sz="1200">
                <a:solidFill>
                  <a:srgbClr val="0F172A"/>
                </a:solidFill>
              </a:defRPr>
            </a:pPr>
            <a:r>
              <a:t>Mahasiswa langsung mendapatkan jadwal teratur, kuis latihan, flashcard, dan tutor AI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DEMO APLIKASI</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Demo Fitur: Dashboard &amp; Manajemen Waktu Belajar</a:t>
            </a:r>
          </a:p>
        </p:txBody>
      </p:sp>
      <p:sp>
        <p:nvSpPr>
          <p:cNvPr id="5" name="TextBox 4"/>
          <p:cNvSpPr txBox="1"/>
          <p:nvPr/>
        </p:nvSpPr>
        <p:spPr>
          <a:xfrm>
            <a:off x="731520" y="1645920"/>
            <a:ext cx="4754880" cy="4480560"/>
          </a:xfrm>
          <a:prstGeom prst="rect">
            <a:avLst/>
          </a:prstGeom>
          <a:noFill/>
        </p:spPr>
        <p:txBody>
          <a:bodyPr wrap="square">
            <a:spAutoFit/>
          </a:bodyPr>
          <a:lstStyle/>
          <a:p>
            <a:pPr>
              <a:defRPr sz="1600" b="1">
                <a:solidFill>
                  <a:srgbClr val="4C1D95"/>
                </a:solidFill>
              </a:defRPr>
            </a:pPr>
            <a:r>
              <a:t>Fitur Utama Dashboard &amp; Tasks:</a:t>
            </a:r>
          </a:p>
          <a:p>
            <a:br/>
            <a:pPr>
              <a:defRPr sz="1200">
                <a:solidFill>
                  <a:srgbClr val="0F172A"/>
                </a:solidFill>
              </a:defRPr>
            </a:pPr>
            <a:r>
              <a:t>📊 Ringkasan Metrik: Menampilkan jumlah tugas aktif, deadline terdekat, dan jam belajar mingguan.</a:t>
            </a:r>
          </a:p>
          <a:p>
            <a:br/>
            <a:pPr>
              <a:defRPr sz="1200">
                <a:solidFill>
                  <a:srgbClr val="0F172A"/>
                </a:solidFill>
              </a:defRPr>
            </a:pPr>
            <a:r>
              <a:t>🔥 Streak Konsistensi: Memotivasi mahasiswa agar konsisten belajar setiap hari.</a:t>
            </a:r>
          </a:p>
          <a:p>
            <a:br/>
            <a:pPr>
              <a:defRPr sz="1200">
                <a:solidFill>
                  <a:srgbClr val="0F172A"/>
                </a:solidFill>
              </a:defRPr>
            </a:pPr>
            <a:r>
              <a:t>📝 My Tasks Interactive: Checklist tugas dengan badge prioritas (High, Medium, Low) dan estimasi jam.</a:t>
            </a:r>
          </a:p>
          <a:p>
            <a:br/>
            <a:pPr>
              <a:defRPr sz="1200">
                <a:solidFill>
                  <a:srgbClr val="0F172A"/>
                </a:solidFill>
              </a:defRPr>
            </a:pPr>
            <a:r>
              <a:t>📅 Matriks Study Plan: Memetakan tugas ke slot jam belajar malam (19:00 - 21:00) yang realistis.</a:t>
            </a:r>
          </a:p>
          <a:p>
            <a:br/>
            <a:pPr>
              <a:defRPr sz="1200">
                <a:solidFill>
                  <a:srgbClr val="0F172A"/>
                </a:solidFill>
              </a:defRPr>
            </a:pPr>
            <a:r>
              <a:t>🐱 Maskot &amp; Audio Pomodoro: Kutipan motivasi interaktif dan suara ambient hujan untuk meningkatkan konsentrasi.</a:t>
            </a:r>
          </a:p>
        </p:txBody>
      </p:sp>
      <p:pic>
        <p:nvPicPr>
          <p:cNvPr id="6" name="Picture 5" descr="Screen_1_Dashboard.png"/>
          <p:cNvPicPr>
            <a:picLocks noChangeAspect="1"/>
          </p:cNvPicPr>
          <p:nvPr/>
        </p:nvPicPr>
        <p:blipFill>
          <a:blip r:embed="rId2"/>
          <a:stretch>
            <a:fillRect/>
          </a:stretch>
        </p:blipFill>
        <p:spPr>
          <a:xfrm>
            <a:off x="5669280" y="1645920"/>
            <a:ext cx="5760720" cy="38367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DEMO APLIKASI</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Demo Fitur: PPT to Study AI &amp; 24/7 AI Tutor</a:t>
            </a:r>
          </a:p>
        </p:txBody>
      </p:sp>
      <p:sp>
        <p:nvSpPr>
          <p:cNvPr id="5" name="Rounded Rectangle 4"/>
          <p:cNvSpPr/>
          <p:nvPr/>
        </p:nvSpPr>
        <p:spPr>
          <a:xfrm>
            <a:off x="731520" y="1645920"/>
            <a:ext cx="5120640" cy="44805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114800"/>
          </a:xfrm>
          <a:prstGeom prst="rect">
            <a:avLst/>
          </a:prstGeom>
          <a:noFill/>
        </p:spPr>
        <p:txBody>
          <a:bodyPr wrap="square">
            <a:spAutoFit/>
          </a:bodyPr>
          <a:lstStyle/>
          <a:p>
            <a:pPr>
              <a:defRPr sz="1500" b="1">
                <a:solidFill>
                  <a:srgbClr val="9333EA"/>
                </a:solidFill>
              </a:defRPr>
            </a:pPr>
            <a:r>
              <a:t>1. PPT to Study AI (3 Mode Belajar):</a:t>
            </a:r>
          </a:p>
          <a:p>
            <a:br/>
            <a:pPr>
              <a:defRPr sz="1100">
                <a:solidFill>
                  <a:srgbClr val="0F172A"/>
                </a:solidFill>
              </a:defRPr>
            </a:pPr>
            <a:r>
              <a:t>• 1. Kuis Interaktif:</a:t>
            </a:r>
            <a:br/>
            <a:r>
              <a:t>Soal pilihan ganda otomatis, penilaian instan, dan penjelasan kunci jawaban.</a:t>
            </a:r>
          </a:p>
          <a:p>
            <a:br/>
            <a:pPr>
              <a:defRPr sz="1100">
                <a:solidFill>
                  <a:srgbClr val="0F172A"/>
                </a:solidFill>
              </a:defRPr>
            </a:pPr>
            <a:r>
              <a:t>• 2. Flashcard 3D:</a:t>
            </a:r>
            <a:br/>
            <a:r>
              <a:t>Kartu bolak-balik interaktif untuk active recall konsep penting.</a:t>
            </a:r>
          </a:p>
          <a:p>
            <a:br/>
            <a:pPr>
              <a:defRPr sz="1100">
                <a:solidFill>
                  <a:srgbClr val="0F172A"/>
                </a:solidFill>
              </a:defRPr>
            </a:pPr>
            <a:r>
              <a:t>• 3. Rangkuman Catatan:</a:t>
            </a:r>
            <a:br/>
            <a:r>
              <a:t>Executive summary, poin kunci ujian, dan tabel cheat sheet ringkas yang siap disalin.</a:t>
            </a:r>
          </a:p>
        </p:txBody>
      </p:sp>
      <p:sp>
        <p:nvSpPr>
          <p:cNvPr id="7" name="Rounded Rectangle 6"/>
          <p:cNvSpPr/>
          <p:nvPr/>
        </p:nvSpPr>
        <p:spPr>
          <a:xfrm>
            <a:off x="6309360" y="1645920"/>
            <a:ext cx="5120640" cy="4480560"/>
          </a:xfrm>
          <a:prstGeom prst="roundRect">
            <a:avLst/>
          </a:prstGeom>
          <a:solidFill>
            <a:srgbClr val="FFFF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4114800"/>
          </a:xfrm>
          <a:prstGeom prst="rect">
            <a:avLst/>
          </a:prstGeom>
          <a:noFill/>
        </p:spPr>
        <p:txBody>
          <a:bodyPr wrap="square">
            <a:spAutoFit/>
          </a:bodyPr>
          <a:lstStyle/>
          <a:p>
            <a:pPr>
              <a:defRPr sz="1500" b="1">
                <a:solidFill>
                  <a:srgbClr val="3B82F6"/>
                </a:solidFill>
              </a:defRPr>
            </a:pPr>
            <a:r>
              <a:t>2. SmartStudy AI Tutor (Floating Chatbot):</a:t>
            </a:r>
          </a:p>
          <a:p>
            <a:br/>
            <a:pPr>
              <a:defRPr sz="1100">
                <a:solidFill>
                  <a:srgbClr val="0F172A"/>
                </a:solidFill>
              </a:defRPr>
            </a:pPr>
            <a:r>
              <a:t>• Tanya Jawab Bebas (General Q&amp;A):</a:t>
            </a:r>
            <a:br/>
            <a:r>
              <a:t>Bisa menjawab pertanyaan apa saja layaknya ChatGPT/Gemini biasa (Keamanan Siber, Algoritma, Big O, dll).</a:t>
            </a:r>
          </a:p>
          <a:p>
            <a:br/>
            <a:pPr>
              <a:defRPr sz="1100">
                <a:solidFill>
                  <a:srgbClr val="0F172A"/>
                </a:solidFill>
              </a:defRPr>
            </a:pPr>
            <a:r>
              <a:t>• Penjelasan Koding Baris demi Baris:</a:t>
            </a:r>
            <a:br/>
            <a:r>
              <a:t>Mampu menjelaskan sintaks koding Java, Python, atau OOP baris demi baris secara mendalam.</a:t>
            </a:r>
          </a:p>
          <a:p>
            <a:br/>
            <a:pPr>
              <a:defRPr sz="1100">
                <a:solidFill>
                  <a:srgbClr val="0F172A"/>
                </a:solidFill>
              </a:defRPr>
            </a:pPr>
            <a:r>
              <a:t>• Terhubung Jadwal Mahasiswa:</a:t>
            </a:r>
            <a:br/>
            <a:r>
              <a:t>AI selalu mengingat tugas aktif dan deadline terdekat mahasiswa secara kontekstual.</a:t>
            </a:r>
          </a:p>
          <a:p>
            <a:br/>
            <a:pPr>
              <a:defRPr sz="1100">
                <a:solidFill>
                  <a:srgbClr val="0F172A"/>
                </a:solidFill>
              </a:defRPr>
            </a:pPr>
            <a:r>
              <a:t>• Multi-Turn Memory:</a:t>
            </a:r>
            <a:br/>
            <a:r>
              <a:t>Percakapan tersimpan rapi untuk diskusi materi yang berkelanjutan.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2377440" cy="329184"/>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33EA"/>
                </a:solidFill>
              </a:defRPr>
            </a:pPr>
            <a:r>
              <a:t>PENUTUP</a:t>
            </a:r>
          </a:p>
        </p:txBody>
      </p:sp>
      <p:sp>
        <p:nvSpPr>
          <p:cNvPr id="4" name="TextBox 3"/>
          <p:cNvSpPr txBox="1"/>
          <p:nvPr/>
        </p:nvSpPr>
        <p:spPr>
          <a:xfrm>
            <a:off x="731520" y="868680"/>
            <a:ext cx="10698480" cy="685800"/>
          </a:xfrm>
          <a:prstGeom prst="rect">
            <a:avLst/>
          </a:prstGeom>
          <a:noFill/>
        </p:spPr>
        <p:txBody>
          <a:bodyPr wrap="square">
            <a:spAutoFit/>
          </a:bodyPr>
          <a:lstStyle/>
          <a:p>
            <a:pPr>
              <a:defRPr sz="2300" b="1">
                <a:solidFill>
                  <a:srgbClr val="4C1D95"/>
                </a:solidFill>
              </a:defRPr>
            </a:pPr>
            <a:r>
              <a:t>Kesimpulan &amp; Nilai Manfaat</a:t>
            </a:r>
          </a:p>
        </p:txBody>
      </p:sp>
      <p:sp>
        <p:nvSpPr>
          <p:cNvPr id="5" name="Rounded Rectangle 4"/>
          <p:cNvSpPr/>
          <p:nvPr/>
        </p:nvSpPr>
        <p:spPr>
          <a:xfrm>
            <a:off x="731520" y="1645920"/>
            <a:ext cx="5120640" cy="3566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200400"/>
          </a:xfrm>
          <a:prstGeom prst="rect">
            <a:avLst/>
          </a:prstGeom>
          <a:noFill/>
        </p:spPr>
        <p:txBody>
          <a:bodyPr wrap="square">
            <a:spAutoFit/>
          </a:bodyPr>
          <a:lstStyle/>
          <a:p>
            <a:pPr>
              <a:defRPr sz="1600" b="1">
                <a:solidFill>
                  <a:srgbClr val="10B981"/>
                </a:solidFill>
              </a:defRPr>
            </a:pPr>
            <a:r>
              <a:t>Nilai Manfaat Utama:</a:t>
            </a:r>
          </a:p>
          <a:p>
            <a:br/>
            <a:pPr>
              <a:defRPr sz="1200">
                <a:solidFill>
                  <a:srgbClr val="0F172A"/>
                </a:solidFill>
              </a:defRPr>
            </a:pPr>
            <a:r>
              <a:t>✅ Efisiensi Waktu: Mengurangi waktu persiapan materi belajar hingga 70%.</a:t>
            </a:r>
          </a:p>
          <a:p>
            <a:br/>
            <a:pPr>
              <a:defRPr sz="1200">
                <a:solidFill>
                  <a:srgbClr val="0F172A"/>
                </a:solidFill>
              </a:defRPr>
            </a:pPr>
            <a:r>
              <a:t>✅ Belajar Lebih Aktif: Mengubah passive reading menjadi latihan kuis dan flashcard active recall.</a:t>
            </a:r>
          </a:p>
          <a:p>
            <a:br/>
            <a:pPr>
              <a:defRPr sz="1200">
                <a:solidFill>
                  <a:srgbClr val="0F172A"/>
                </a:solidFill>
              </a:defRPr>
            </a:pPr>
            <a:r>
              <a:t>✅ Mencegah Keterlambatan: Prioritas tugas terukur jelas, menghindari keterlambatan deadline.</a:t>
            </a:r>
          </a:p>
          <a:p>
            <a:br/>
            <a:pPr>
              <a:defRPr sz="1200">
                <a:solidFill>
                  <a:srgbClr val="0F172A"/>
                </a:solidFill>
              </a:defRPr>
            </a:pPr>
            <a:r>
              <a:t>✅ Pendamping Belajar 24/7: Mahasiswa selalu memiliki asisten belajar cerdas kapan pun dibutuhkan.</a:t>
            </a:r>
          </a:p>
        </p:txBody>
      </p:sp>
      <p:sp>
        <p:nvSpPr>
          <p:cNvPr id="7" name="Rounded Rectangle 6"/>
          <p:cNvSpPr/>
          <p:nvPr/>
        </p:nvSpPr>
        <p:spPr>
          <a:xfrm>
            <a:off x="6309360" y="1645920"/>
            <a:ext cx="5120640" cy="35661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3200400"/>
          </a:xfrm>
          <a:prstGeom prst="rect">
            <a:avLst/>
          </a:prstGeom>
          <a:noFill/>
        </p:spPr>
        <p:txBody>
          <a:bodyPr wrap="square">
            <a:spAutoFit/>
          </a:bodyPr>
          <a:lstStyle/>
          <a:p>
            <a:pPr>
              <a:defRPr sz="1600" b="1">
                <a:solidFill>
                  <a:srgbClr val="9333EA"/>
                </a:solidFill>
              </a:defRPr>
            </a:pPr>
            <a:r>
              <a:t>Rencana Pengembangan Mendatang:</a:t>
            </a:r>
          </a:p>
          <a:p>
            <a:br/>
            <a:pPr>
              <a:defRPr sz="1200">
                <a:solidFill>
                  <a:srgbClr val="0F172A"/>
                </a:solidFill>
              </a:defRPr>
            </a:pPr>
            <a:r>
              <a:t>🔄 Sinkronisasi Google Calendar: Menghubungkan jadwal belajar langsung ke kalender handphone.</a:t>
            </a:r>
          </a:p>
          <a:p>
            <a:br/>
            <a:pPr>
              <a:defRPr sz="1200">
                <a:solidFill>
                  <a:srgbClr val="0F172A"/>
                </a:solidFill>
              </a:defRPr>
            </a:pPr>
            <a:r>
              <a:t>👥 Kolaborasi Belajar: Fitur berbagi paket kuis dan kartu flashcard antar teman sekelas.</a:t>
            </a:r>
          </a:p>
          <a:p>
            <a:br/>
            <a:pPr>
              <a:defRPr sz="1200">
                <a:solidFill>
                  <a:srgbClr val="0F172A"/>
                </a:solidFill>
              </a:defRPr>
            </a:pPr>
            <a:r>
              <a:t>📱 Aplikasi Mobile: Versi Android &amp; iOS untuk akses lebih fleksibel.</a:t>
            </a:r>
          </a:p>
        </p:txBody>
      </p:sp>
      <p:sp>
        <p:nvSpPr>
          <p:cNvPr id="9" name="Rounded Rectangle 8"/>
          <p:cNvSpPr/>
          <p:nvPr/>
        </p:nvSpPr>
        <p:spPr>
          <a:xfrm>
            <a:off x="731520" y="5486400"/>
            <a:ext cx="10698480" cy="822960"/>
          </a:xfrm>
          <a:prstGeom prst="roundRect">
            <a:avLst/>
          </a:prstGeom>
          <a:solidFill>
            <a:srgbClr val="F3E8FF"/>
          </a:solidFill>
          <a:ln w="1270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623560"/>
            <a:ext cx="10332720" cy="548640"/>
          </a:xfrm>
          <a:prstGeom prst="rect">
            <a:avLst/>
          </a:prstGeom>
          <a:noFill/>
        </p:spPr>
        <p:txBody>
          <a:bodyPr wrap="none">
            <a:spAutoFit/>
          </a:bodyPr>
          <a:lstStyle/>
          <a:p>
            <a:pPr algn="ctr">
              <a:defRPr sz="1300" b="1">
                <a:solidFill>
                  <a:srgbClr val="4C1D95"/>
                </a:solidFill>
              </a:defRPr>
            </a:pPr>
            <a:r>
              <a:t>🔗 GitHub Repository: https://github.com/atilafazrul/web-study.git  •  Terima Kasih &amp; Sesi Tanya Jawab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